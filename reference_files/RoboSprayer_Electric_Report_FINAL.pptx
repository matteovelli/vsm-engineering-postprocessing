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30000"/>
              </a:srgbClr>
            </a:outerShdw>
          </a:effectLst>
        </p:spPr>
      </p:sp>
      <p:pic>
        <p:nvPicPr>
          <p:cNvPr id="3" name="Image 0" descr="assets/ic_tracto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5836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37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   ·   FEASIBILITY STUDY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1704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RoboSprayer Electric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204825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feasibility study on a validated 3,853-sample electric field profile.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GVW 3,500 kg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934870" y="2743200"/>
            <a:ext cx="1752905" cy="402336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4870" y="2743200"/>
            <a:ext cx="175290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powertrain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852367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52367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kph field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8598" y="2743200"/>
            <a:ext cx="1297534" cy="402336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8598" y="2743200"/>
            <a:ext cx="129753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50 kW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00723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00723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63 rpm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3685032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9" name="Text 16"/>
          <p:cNvSpPr/>
          <p:nvPr/>
        </p:nvSpPr>
        <p:spPr>
          <a:xfrm>
            <a:off x="877824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1248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500" dirty="0"/>
          </a:p>
        </p:txBody>
      </p:sp>
      <p:sp>
        <p:nvSpPr>
          <p:cNvPr id="21" name="Shape 18"/>
          <p:cNvSpPr/>
          <p:nvPr/>
        </p:nvSpPr>
        <p:spPr>
          <a:xfrm>
            <a:off x="4315968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80560" y="3685032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23" name="Text 20"/>
          <p:cNvSpPr/>
          <p:nvPr/>
        </p:nvSpPr>
        <p:spPr>
          <a:xfrm>
            <a:off x="4645152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08576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64.20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500" dirty="0"/>
          </a:p>
        </p:txBody>
      </p:sp>
      <p:sp>
        <p:nvSpPr>
          <p:cNvPr id="25" name="Shape 22"/>
          <p:cNvSpPr/>
          <p:nvPr/>
        </p:nvSpPr>
        <p:spPr>
          <a:xfrm>
            <a:off x="8083296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47888" y="3685032"/>
            <a:ext cx="100584" cy="100584"/>
          </a:xfrm>
          <a:prstGeom prst="ellipse">
            <a:avLst/>
          </a:prstGeom>
          <a:solidFill>
            <a:srgbClr val="37D8A2"/>
          </a:solidFill>
          <a:ln/>
        </p:spPr>
      </p:sp>
      <p:sp>
        <p:nvSpPr>
          <p:cNvPr id="27" name="Text 24"/>
          <p:cNvSpPr/>
          <p:nvPr/>
        </p:nvSpPr>
        <p:spPr>
          <a:xfrm>
            <a:off x="8412480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FINAL SOC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75904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7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12.69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500" dirty="0"/>
          </a:p>
        </p:txBody>
      </p:sp>
      <p:sp>
        <p:nvSpPr>
          <p:cNvPr id="29" name="Shape 26"/>
          <p:cNvSpPr/>
          <p:nvPr/>
        </p:nvSpPr>
        <p:spPr>
          <a:xfrm>
            <a:off x="548640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3232" y="5074920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1" name="Text 28"/>
          <p:cNvSpPr/>
          <p:nvPr/>
        </p:nvSpPr>
        <p:spPr>
          <a:xfrm>
            <a:off x="877824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ENERGY CONSUMPTION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41248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2,804.6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2500" dirty="0"/>
          </a:p>
        </p:txBody>
      </p:sp>
      <p:sp>
        <p:nvSpPr>
          <p:cNvPr id="33" name="Shape 30"/>
          <p:cNvSpPr/>
          <p:nvPr/>
        </p:nvSpPr>
        <p:spPr>
          <a:xfrm>
            <a:off x="4315968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5074920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5" name="Text 32"/>
          <p:cNvSpPr/>
          <p:nvPr/>
        </p:nvSpPr>
        <p:spPr>
          <a:xfrm>
            <a:off x="4645152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FOR 85% BATTERY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608576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12.76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500" dirty="0"/>
          </a:p>
        </p:txBody>
      </p:sp>
      <p:sp>
        <p:nvSpPr>
          <p:cNvPr id="37" name="Shape 34"/>
          <p:cNvSpPr/>
          <p:nvPr/>
        </p:nvSpPr>
        <p:spPr>
          <a:xfrm>
            <a:off x="8083296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47888" y="5074920"/>
            <a:ext cx="100584" cy="100584"/>
          </a:xfrm>
          <a:prstGeom prst="ellipse">
            <a:avLst/>
          </a:prstGeom>
          <a:solidFill>
            <a:srgbClr val="37D8A2"/>
          </a:solidFill>
          <a:ln/>
        </p:spPr>
      </p:sp>
      <p:sp>
        <p:nvSpPr>
          <p:cNvPr id="39" name="Text 36"/>
          <p:cNvSpPr/>
          <p:nvPr/>
        </p:nvSpPr>
        <p:spPr>
          <a:xfrm>
            <a:off x="8412480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BATTERY POWER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375904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7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29.85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500" dirty="0"/>
          </a:p>
        </p:txBody>
      </p:sp>
      <p:sp>
        <p:nvSpPr>
          <p:cNvPr id="41" name="Text 3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3,853</a:t>
            </a:r>
            <a:pPr indent="0" marL="0">
              <a:buNone/>
            </a:pPr>
            <a:r>
              <a:rPr lang="en-US" sz="850" spc="12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Tool version: v1.2.10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rout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&amp; Simulation Overview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profile resolution and deterministic simulation scope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GVW 3,500 kg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934870" y="1417320"/>
            <a:ext cx="1752905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34870" y="1417320"/>
            <a:ext cx="175290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powertrain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52367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52367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kph field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38598" y="1417320"/>
            <a:ext cx="1297534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38598" y="1417320"/>
            <a:ext cx="129753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50 kW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00723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00723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63 rpm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205740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524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solidFill>
            <a:srgbClr val="159A6B"/>
          </a:solidFill>
          <a:ln/>
        </p:spPr>
      </p:sp>
      <p:pic>
        <p:nvPicPr>
          <p:cNvPr id="18" name="Image 1" descr="assets/ic_dash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2951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Structure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41248" y="292608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reporting profile: RoboSprayer Electric.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Powertrain type: fully electric.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samples: 3,853  ·  source channels: 607.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required raw channels: 288 / 288.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99632" y="205740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524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55664" y="2295144"/>
            <a:ext cx="457200" cy="457200"/>
          </a:xfrm>
          <a:prstGeom prst="ellipse">
            <a:avLst/>
          </a:prstGeom>
          <a:solidFill>
            <a:srgbClr val="159A6B"/>
          </a:solidFill>
          <a:ln/>
        </p:spPr>
      </p:sp>
      <p:pic>
        <p:nvPicPr>
          <p:cNvPr id="23" name="Image 2" descr="assets/ic_energ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39572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68312" y="22951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 Context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492240" y="292608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MATH channels: 29.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statistics: 27  ·  KPIs: 9.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profile plots: 12.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/ all-zero resolved channels: 35.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3232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28" name="Text 23"/>
          <p:cNvSpPr/>
          <p:nvPr/>
        </p:nvSpPr>
        <p:spPr>
          <a:xfrm>
            <a:off x="877824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841248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30" name="Shape 25"/>
          <p:cNvSpPr/>
          <p:nvPr/>
        </p:nvSpPr>
        <p:spPr>
          <a:xfrm>
            <a:off x="3358134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3522726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32" name="Text 27"/>
          <p:cNvSpPr/>
          <p:nvPr/>
        </p:nvSpPr>
        <p:spPr>
          <a:xfrm>
            <a:off x="3687318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3650742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400" dirty="0"/>
          </a:p>
        </p:txBody>
      </p:sp>
      <p:sp>
        <p:nvSpPr>
          <p:cNvPr id="34" name="Shape 29"/>
          <p:cNvSpPr/>
          <p:nvPr/>
        </p:nvSpPr>
        <p:spPr>
          <a:xfrm>
            <a:off x="6167628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332220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36" name="Text 31"/>
          <p:cNvSpPr/>
          <p:nvPr/>
        </p:nvSpPr>
        <p:spPr>
          <a:xfrm>
            <a:off x="6496812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6460236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11.99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8977122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9141714" y="53858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40" name="Text 35"/>
          <p:cNvSpPr/>
          <p:nvPr/>
        </p:nvSpPr>
        <p:spPr>
          <a:xfrm>
            <a:off x="9306306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FINAL SOC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9269730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12.69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42" name="Text 3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dash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Results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KPIs from the validated profile pipeline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0" y="502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  </a:t>
            </a:r>
            <a:pPr algn="r" indent="0" marL="0">
              <a:buNone/>
            </a:pPr>
            <a:r>
              <a:rPr lang="en-US" sz="11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  </a:t>
            </a:r>
            <a:pPr algn="r" indent="0" marL="0">
              <a:buNone/>
            </a:pPr>
            <a:r>
              <a:rPr lang="en-US" sz="11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124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64.20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3" name="Text 10"/>
          <p:cNvSpPr/>
          <p:nvPr/>
        </p:nvSpPr>
        <p:spPr>
          <a:xfrm>
            <a:off x="371246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7588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251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7" name="Text 14"/>
          <p:cNvSpPr/>
          <p:nvPr/>
        </p:nvSpPr>
        <p:spPr>
          <a:xfrm>
            <a:off x="654710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052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11.99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905256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17152" y="1847088"/>
            <a:ext cx="100584" cy="100584"/>
          </a:xfrm>
          <a:prstGeom prst="ellipse">
            <a:avLst/>
          </a:prstGeom>
          <a:solidFill>
            <a:srgbClr val="37D8A2"/>
          </a:solidFill>
          <a:ln/>
        </p:spPr>
      </p:sp>
      <p:sp>
        <p:nvSpPr>
          <p:cNvPr id="21" name="Text 18"/>
          <p:cNvSpPr/>
          <p:nvPr/>
        </p:nvSpPr>
        <p:spPr>
          <a:xfrm>
            <a:off x="938174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INITIAL SOC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34516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7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3200" dirty="0"/>
          </a:p>
        </p:txBody>
      </p:sp>
      <p:sp>
        <p:nvSpPr>
          <p:cNvPr id="23" name="Shape 20"/>
          <p:cNvSpPr/>
          <p:nvPr/>
        </p:nvSpPr>
        <p:spPr>
          <a:xfrm>
            <a:off x="54864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" y="3867912"/>
            <a:ext cx="100584" cy="100584"/>
          </a:xfrm>
          <a:prstGeom prst="ellipse">
            <a:avLst/>
          </a:prstGeom>
          <a:solidFill>
            <a:srgbClr val="37D8A2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FINAL SOC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4124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7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12.69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3200" dirty="0"/>
          </a:p>
        </p:txBody>
      </p:sp>
      <p:sp>
        <p:nvSpPr>
          <p:cNvPr id="27" name="Shape 24"/>
          <p:cNvSpPr/>
          <p:nvPr/>
        </p:nvSpPr>
        <p:spPr>
          <a:xfrm>
            <a:off x="338328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4787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29" name="Text 26"/>
          <p:cNvSpPr/>
          <p:nvPr/>
        </p:nvSpPr>
        <p:spPr>
          <a:xfrm>
            <a:off x="371246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67588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33.65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3200" dirty="0"/>
          </a:p>
        </p:txBody>
      </p:sp>
      <p:sp>
        <p:nvSpPr>
          <p:cNvPr id="31" name="Shape 28"/>
          <p:cNvSpPr/>
          <p:nvPr/>
        </p:nvSpPr>
        <p:spPr>
          <a:xfrm>
            <a:off x="621792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8251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3" name="Text 30"/>
          <p:cNvSpPr/>
          <p:nvPr/>
        </p:nvSpPr>
        <p:spPr>
          <a:xfrm>
            <a:off x="654710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51052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2,804.6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3200" dirty="0"/>
          </a:p>
        </p:txBody>
      </p:sp>
      <p:sp>
        <p:nvSpPr>
          <p:cNvPr id="35" name="Shape 32"/>
          <p:cNvSpPr/>
          <p:nvPr/>
        </p:nvSpPr>
        <p:spPr>
          <a:xfrm>
            <a:off x="905256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21715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7" name="Text 34"/>
          <p:cNvSpPr/>
          <p:nvPr/>
        </p:nvSpPr>
        <p:spPr>
          <a:xfrm>
            <a:off x="938174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FOR 85% BATTERY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934516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12.76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3200" dirty="0"/>
          </a:p>
        </p:txBody>
      </p:sp>
      <p:sp>
        <p:nvSpPr>
          <p:cNvPr id="39" name="Text 36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are sourced from the profile statistics and KPI results.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gaug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Operation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trace from the validated profile plot output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58134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2726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12" name="Text 9"/>
          <p:cNvSpPr/>
          <p:nvPr/>
        </p:nvSpPr>
        <p:spPr>
          <a:xfrm>
            <a:off x="3687318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0742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67628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16" name="Text 13"/>
          <p:cNvSpPr/>
          <p:nvPr/>
        </p:nvSpPr>
        <p:spPr>
          <a:xfrm>
            <a:off x="6496812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60236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11.99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977122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1714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20" name="Text 17"/>
          <p:cNvSpPr/>
          <p:nvPr/>
        </p:nvSpPr>
        <p:spPr>
          <a:xfrm>
            <a:off x="9306306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FINAL SOC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69730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12.69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2776576" y="2880360"/>
            <a:ext cx="6638544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23" name="Image 1" descr="assets/chart_spe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304" y="2990088"/>
            <a:ext cx="6419088" cy="32095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batter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&amp; Electrical Energy System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charge, stored energy and battery demand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SOC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12.69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BATTERY POWER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POWER RMS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28.72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HEATFLOW RMS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USED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31" name="Image 1" descr="assets/chart_s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33" name="Image 2" descr="assets/chart_batt_energy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recyc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Power &amp; Energy Recovery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/ discharge behaviour and released / recuperated energy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POWER RMS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28.72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96235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60827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12" name="Text 9"/>
          <p:cNvSpPr/>
          <p:nvPr/>
        </p:nvSpPr>
        <p:spPr>
          <a:xfrm>
            <a:off x="3125419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ENERGY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088843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19.12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043830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08422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16" name="Text 13"/>
          <p:cNvSpPr/>
          <p:nvPr/>
        </p:nvSpPr>
        <p:spPr>
          <a:xfrm>
            <a:off x="5373014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RECUPERATED ENERGY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36438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91426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56018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610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AUXILIARIES ENERGY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584034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11.51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539021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703613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24" name="Text 21"/>
          <p:cNvSpPr/>
          <p:nvPr/>
        </p:nvSpPr>
        <p:spPr>
          <a:xfrm>
            <a:off x="9868205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BATTERY POWER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831629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29.85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27" name="Image 1" descr="assets/chart_batt_p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29" name="Image 2" descr="assets/chart_energy_releas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C0762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rang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Consumption &amp; Estimated Range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energy consumption and range indicators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USED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2,804.6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85% BATT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12.76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FINAL SOC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12.69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BATTERY POWER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AUXILIARIES ENERGY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11.51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2929509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31" name="Image 1" descr="assets/chart_batt_energy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39237"/>
            <a:ext cx="5216652" cy="2608326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204204" y="2929509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33" name="Image 2" descr="assets/chart_au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3039237"/>
            <a:ext cx="5216652" cy="2608326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548640" y="5998464"/>
            <a:ext cx="11091672" cy="329184"/>
          </a:xfrm>
          <a:prstGeom prst="roundRect">
            <a:avLst>
              <a:gd name="adj" fmla="val 13889"/>
            </a:avLst>
          </a:prstGeom>
          <a:solidFill>
            <a:srgbClr val="FBF1E3"/>
          </a:solidFill>
          <a:ln w="12700">
            <a:solidFill>
              <a:srgbClr val="F0D9B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31520" y="6080760"/>
            <a:ext cx="164592" cy="164592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36" name="Text 31"/>
          <p:cNvSpPr/>
          <p:nvPr/>
        </p:nvSpPr>
        <p:spPr>
          <a:xfrm>
            <a:off x="1024128" y="599846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consumption are deterministic profile KPI outputs.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dropl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Agrochemical &amp; Battery Behaviour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Profile-supported system interaction without reconstructed charging assumptions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AGROCHEM. DISCHARGE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kg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58134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2726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12" name="Text 9"/>
          <p:cNvSpPr/>
          <p:nvPr/>
        </p:nvSpPr>
        <p:spPr>
          <a:xfrm>
            <a:off x="3687318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FINAL SOC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0742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12.69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67628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16" name="Text 13"/>
          <p:cNvSpPr/>
          <p:nvPr/>
        </p:nvSpPr>
        <p:spPr>
          <a:xfrm>
            <a:off x="6496812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USED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60236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33.65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977122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1714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20" name="Text 17"/>
          <p:cNvSpPr/>
          <p:nvPr/>
        </p:nvSpPr>
        <p:spPr>
          <a:xfrm>
            <a:off x="9306306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69730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23" name="Image 1" descr="assets/chart_agro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25" name="Image 2" descr="assets/chart_agro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gearbo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Traction, EDU &amp; Auxiliary Energy Demand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Wheel, EDU, tyre and auxiliary demand from profile plots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EDU MECH POWER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15.17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WHEEL POWER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MAX SPEED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rpm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159A6B"/>
          </a:solidFill>
          <a:ln/>
        </p:spPr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MAX TORQUE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737.87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Nm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RR ENERGY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13.36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C07620"/>
          </a:solidFill>
          <a:ln/>
        </p:spPr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AUXILIARIES ENERGY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7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11.51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31" name="Image 1" descr="assets/chart_wheels_ed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33" name="Image 2" descr="assets/chart_tyr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159A6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summar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Summary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profile result snapshot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CE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12.00 km</a:t>
            </a:r>
            <a:pPr indent="0" marL="0">
              <a:buNone/>
            </a:pPr>
            <a:r>
              <a:rPr lang="en-US" sz="2300" dirty="0">
                <a:solidFill>
                  <a:srgbClr val="9DB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covered   ·   SOC  </a:t>
            </a:r>
            <a:pPr indent="0" marL="0">
              <a:buNone/>
            </a:pPr>
            <a:r>
              <a:rPr lang="en-US" sz="2300" b="1" dirty="0">
                <a:solidFill>
                  <a:srgbClr val="37D8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12.69 %</a:t>
            </a:r>
            <a:pPr indent="0" marL="0">
              <a:buNone/>
            </a:pPr>
            <a:r>
              <a:rPr lang="en-US" sz="2300" dirty="0">
                <a:solidFill>
                  <a:srgbClr val="9DB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consumption  </a:t>
            </a:r>
            <a:pPr indent="0" marL="0">
              <a:buNone/>
            </a:pPr>
            <a:r>
              <a:rPr lang="en-US" sz="2300" b="1" dirty="0">
                <a:solidFill>
                  <a:srgbClr val="F0B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2,804.6 Wh/km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7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87168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run covered 12.00 km in 64.20 min.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 is 12.69 % from an 80.00 % initial state.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 is 33.65 kWh; estimated range for 85% battery is 12.76 km.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5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deterministic simulation outputs; acceptance conclusions require explicit engineering criteria.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518464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1" name="Text 8"/>
          <p:cNvSpPr/>
          <p:nvPr/>
        </p:nvSpPr>
        <p:spPr>
          <a:xfrm>
            <a:off x="877824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41248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2421636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86228" y="518464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</p:sp>
      <p:sp>
        <p:nvSpPr>
          <p:cNvPr id="15" name="Text 12"/>
          <p:cNvSpPr/>
          <p:nvPr/>
        </p:nvSpPr>
        <p:spPr>
          <a:xfrm>
            <a:off x="2750820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14244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64.20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294632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59224" y="5184648"/>
            <a:ext cx="100584" cy="100584"/>
          </a:xfrm>
          <a:prstGeom prst="ellipse">
            <a:avLst/>
          </a:prstGeom>
          <a:solidFill>
            <a:srgbClr val="37D8A2"/>
          </a:solidFill>
          <a:ln/>
        </p:spPr>
      </p:sp>
      <p:sp>
        <p:nvSpPr>
          <p:cNvPr id="19" name="Text 16"/>
          <p:cNvSpPr/>
          <p:nvPr/>
        </p:nvSpPr>
        <p:spPr>
          <a:xfrm>
            <a:off x="4623816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SOC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87240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7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12.69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167628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32220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23" name="Text 20"/>
          <p:cNvSpPr/>
          <p:nvPr/>
        </p:nvSpPr>
        <p:spPr>
          <a:xfrm>
            <a:off x="6496812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USED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60236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33.65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8040624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05216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27" name="Text 24"/>
          <p:cNvSpPr/>
          <p:nvPr/>
        </p:nvSpPr>
        <p:spPr>
          <a:xfrm>
            <a:off x="8369808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333232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2,804.6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9913620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304F"/>
          </a:solidFill>
          <a:ln w="12700">
            <a:solidFill>
              <a:srgbClr val="284A7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78212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</p:sp>
      <p:sp>
        <p:nvSpPr>
          <p:cNvPr id="31" name="Text 28"/>
          <p:cNvSpPr/>
          <p:nvPr/>
        </p:nvSpPr>
        <p:spPr>
          <a:xfrm>
            <a:off x="10242804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85%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206228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12.76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v1.2.10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2026-08-16T11:37:24Z</dcterms:created>
  <dcterms:modified xsi:type="dcterms:W3CDTF">2026-08-16T11:37:25Z</dcterms:modified>
</cp:coreProperties>
</file>