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Relationship Id="rId8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Relationship Id="rId11" Type="http://schemas.openxmlformats.org/officeDocument/2006/relationships/image" Target="../media/image6.png"/><Relationship Id="rId1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Relationship Id="rId11" Type="http://schemas.openxmlformats.org/officeDocument/2006/relationships/image" Target="../media/image10.png"/><Relationship Id="rId1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EA76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  ·   FEASIBILITY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RoboSprayer Hybrid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- Feasibility Study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035808"/>
            <a:ext cx="1475842" cy="420624"/>
          </a:xfrm>
          <a:prstGeom prst="roundRect">
            <a:avLst>
              <a:gd name="adj" fmla="val 50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035808"/>
            <a:ext cx="14758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Powertrain Hybrid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62810" y="3035808"/>
            <a:ext cx="1475842" cy="420624"/>
          </a:xfrm>
          <a:prstGeom prst="roundRect">
            <a:avLst>
              <a:gd name="adj" fmla="val 50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2810" y="3035808"/>
            <a:ext cx="14758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RoboSprayer raw VSM CSV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39819" y="3035808"/>
            <a:ext cx="2371954" cy="420624"/>
          </a:xfrm>
          <a:prstGeom prst="roundRect">
            <a:avLst>
              <a:gd name="adj" fmla="val 50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9819" y="3035808"/>
            <a:ext cx="237195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3,853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2941" y="3035808"/>
            <a:ext cx="2640787" cy="420624"/>
          </a:xfrm>
          <a:prstGeom prst="roundRect">
            <a:avLst>
              <a:gd name="adj" fmla="val 50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2941" y="3035808"/>
            <a:ext cx="264078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RoboSprayer Hybrid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54896" y="3035808"/>
            <a:ext cx="2551176" cy="420624"/>
          </a:xfrm>
          <a:prstGeom prst="roundRect">
            <a:avLst>
              <a:gd name="adj" fmla="val 50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4896" y="3035808"/>
            <a:ext cx="2551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v1.2.10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16052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8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949" y="4282501"/>
            <a:ext cx="176662" cy="1766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1732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0525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1" name="Shape 18"/>
          <p:cNvSpPr/>
          <p:nvPr/>
        </p:nvSpPr>
        <p:spPr>
          <a:xfrm>
            <a:off x="352044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21608" y="416052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23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89" y="4282501"/>
            <a:ext cx="176662" cy="17666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25196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73989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64.20 min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6" name="Shape 22"/>
          <p:cNvSpPr/>
          <p:nvPr/>
        </p:nvSpPr>
        <p:spPr>
          <a:xfrm>
            <a:off x="635508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6248" y="416052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2" descr="icons/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29" y="4282501"/>
            <a:ext cx="176662" cy="17666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08660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57453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12.69 %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1" name="Shape 26"/>
          <p:cNvSpPr/>
          <p:nvPr/>
        </p:nvSpPr>
        <p:spPr>
          <a:xfrm>
            <a:off x="918972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390888" y="416052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33" name="Image 3" descr="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869" y="4282501"/>
            <a:ext cx="176662" cy="17666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92124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40917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kg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6" name="Text 30"/>
          <p:cNvSpPr/>
          <p:nvPr/>
        </p:nvSpPr>
        <p:spPr>
          <a:xfrm>
            <a:off x="6858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005840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and Simulation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profile resolution and deterministic simulation scope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471270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4712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3,853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02790" y="1417320"/>
            <a:ext cx="1471270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2790" y="1417320"/>
            <a:ext cx="14712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12.00 km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56939" y="1417320"/>
            <a:ext cx="2576779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6939" y="1417320"/>
            <a:ext cx="257677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 64.20 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6598" y="1417320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6598" y="141732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profile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5358384" cy="2697480"/>
          </a:xfrm>
          <a:prstGeom prst="roundRect">
            <a:avLst>
              <a:gd name="adj" fmla="val 2373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313432"/>
            <a:ext cx="457200" cy="457200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6" name="Image 0" descr="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446020"/>
            <a:ext cx="192024" cy="1920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2313432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Structure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9536" y="2898648"/>
            <a:ext cx="477316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dataset: RoboSprayer raw VSM CSV
Imported samples: 3,853
Mission duration: 64.20 min
Mission distance: 12.00 km
Maximum speed: 11.99 kph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91072" y="2057400"/>
            <a:ext cx="5358384" cy="2697480"/>
          </a:xfrm>
          <a:prstGeom prst="roundRect">
            <a:avLst>
              <a:gd name="adj" fmla="val 2373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65392" y="2313432"/>
            <a:ext cx="457200" cy="457200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21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446020"/>
            <a:ext cx="192024" cy="1920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59752" y="2313432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System Context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601968" y="2898648"/>
            <a:ext cx="477316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SOC: 80.00 % to 12.69 %
Fuel consumption: 0.00 kg
Maximum generator power: 0.00 kW
Range-extender activity is reported directly from resolved simulation channels.
Inactive channels remain visible as zero deterministic outputs.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9808" y="5138928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26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89" y="5260909"/>
            <a:ext cx="176662" cy="1766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68096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64.20 min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3407969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609137" y="5138928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31" name="Image 3" descr="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118" y="5260909"/>
            <a:ext cx="176662" cy="17666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139489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627425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34" name="Shape 28"/>
          <p:cNvSpPr/>
          <p:nvPr/>
        </p:nvSpPr>
        <p:spPr>
          <a:xfrm>
            <a:off x="6267298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468466" y="5138928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36" name="Image 4" descr="icons/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447" y="5260909"/>
            <a:ext cx="176662" cy="17666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98818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SPEED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6486754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11.99 kph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39" name="Shape 32"/>
          <p:cNvSpPr/>
          <p:nvPr/>
        </p:nvSpPr>
        <p:spPr>
          <a:xfrm>
            <a:off x="9126626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9327794" y="513892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1" name="Image 5" descr="icons/z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775" y="5260909"/>
            <a:ext cx="176662" cy="17666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58146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GEN POWER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9346082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</a:t>
            </a:r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KPIs from the validated profile pipeline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2024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8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2042221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9202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3957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64.20 min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4398264" y="17373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92024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3" name="Image 1" descr="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413" y="2042221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9784" y="19202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17720" y="23957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8247888" y="17373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192024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8" name="Image 2" descr="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037" y="2042221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19202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SPEED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467344" y="23957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11.99 kph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1" name="Shape 16"/>
          <p:cNvSpPr/>
          <p:nvPr/>
        </p:nvSpPr>
        <p:spPr>
          <a:xfrm>
            <a:off x="548640" y="35661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374904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23" name="Image 3" descr="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89" y="3871021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7490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BATTERY SOC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68096" y="42245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6" name="Shape 20"/>
          <p:cNvSpPr/>
          <p:nvPr/>
        </p:nvSpPr>
        <p:spPr>
          <a:xfrm>
            <a:off x="4398264" y="35661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99432" y="37490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4" descr="icons/batte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413" y="3871021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9784" y="37490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617720" y="42245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12.69 %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1" name="Shape 24"/>
          <p:cNvSpPr/>
          <p:nvPr/>
        </p:nvSpPr>
        <p:spPr>
          <a:xfrm>
            <a:off x="8247888" y="35661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49056" y="374904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33" name="Image 5" descr="icons/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037" y="3871021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79408" y="37490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CAPACITY USED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8467344" y="42245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33.65 kWh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6" name="Text 28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Calculations are sourced from the profile statistics and KPI results.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Operation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trace from the validated profile plot output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64208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8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86189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07969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9137" y="1664208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3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118" y="1786189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39489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627425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64.20 min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67298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8466" y="1664208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8" name="Image 2" descr="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47" y="1786189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8818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SPEED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86754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11.99 kph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9126626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7794" y="166420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3" descr="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775" y="1786189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58146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9346082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12.69 %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2998347" y="2761488"/>
            <a:ext cx="6192258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27" name="Picture 26" descr="02_speed_vs_dist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6363" y="2889504"/>
            <a:ext cx="593622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and Electrical Energy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charge, stored energy and battery demand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8" name="Image 0" descr="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BATTERY SOC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80.00 %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2803550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04718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699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5070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023006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12.69 %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5058461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59629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8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10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89981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BATT POWER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277917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29.85 kW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7313371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14539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3" descr="icons/ther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520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4891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 POWER RMS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532827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28.72 kW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26" name="Shape 20"/>
          <p:cNvSpPr/>
          <p:nvPr/>
        </p:nvSpPr>
        <p:spPr>
          <a:xfrm>
            <a:off x="9568282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769450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4" descr="icons/therm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431" y="1749613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99802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HEATFLOW RMS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9787738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2.84 kW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31" name="Shape 24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37" name="Picture 36" descr="08_battery_so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38" name="Picture 37" descr="10_battery_energy_time_ba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Power and Energy Recovery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Charge/discharge behavior and released/recuperated energy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8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 POWER RMS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28.72 kW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367278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8446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427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98798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RELEASED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86734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19.12 kWh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185916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87084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8" name="Image 2" descr="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065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17436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RECOVERED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05372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9004554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05722" y="1627632"/>
            <a:ext cx="420624" cy="420624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23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703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36074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ENERGY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9224010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11.51 kWh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32" name="Picture 31" descr="04_battery_power_charge_dischar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33" name="Picture 32" descr="06_energy_relea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Extender and Generator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range-extender channels are inactive in this simulation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GEN POWER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27732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28900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881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9252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ENG POWER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647188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306824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07992" y="1627632"/>
            <a:ext cx="420624" cy="420624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18" name="Image 2" descr="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73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38344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ENG SPEED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26280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rpm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185916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7084" y="1627632"/>
            <a:ext cx="420624" cy="420624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23" name="Image 3" descr="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65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7436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ENG TORQUE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405372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Nm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8065008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66176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4" descr="icons/drop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157" y="1749613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96528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284464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kg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994410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145268" y="1627632"/>
            <a:ext cx="420624" cy="420624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33" name="Image 5" descr="icons/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249" y="1749613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67562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ENERGY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16355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kWh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6" name="Shape 28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42" name="Picture 41" descr="14_generator_pow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43" name="Picture 42" descr="18_engine_power_and_fuel_vs_tim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7240" y="5961888"/>
            <a:ext cx="107899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6B7C88"/>
                </a:solidFill>
                <a:latin typeface="Arial"/>
              </a:defRPr>
            </a:pPr>
            <a:r>
              <a:t>RANGE EXTENDER INACTIVE IN THIS SIMULATION</a:t>
            </a:r>
            <a:br/>
            <a:r>
              <a:t>ICE/generator channels resolved; no operating activity detected in this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Auxiliary and Tyre Energy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profile view selected because agrochemical discharge is inactive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8" name="Image 0" descr="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AUX POWER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10.75 kW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2803550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04718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699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5070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ENERGY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023006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11.51 kWh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5058461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59629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8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10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89981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TYRE RR ENERGY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277917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13.36 kWh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7313371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14539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3" descr="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520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4891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532827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12.69 %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26" name="Shape 20"/>
          <p:cNvSpPr/>
          <p:nvPr/>
        </p:nvSpPr>
        <p:spPr>
          <a:xfrm>
            <a:off x="9568282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769450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28" name="Image 4" descr="icons/drop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431" y="1749613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99802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9787738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64.20 min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31" name="Shape 24"/>
          <p:cNvSpPr/>
          <p:nvPr/>
        </p:nvSpPr>
        <p:spPr>
          <a:xfrm>
            <a:off x="548640" y="27432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199632" y="27432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Agrochemical discharge is inactive/all-zero; this slide substitutes configured auxiliary and tyre energy demand.</a:t>
            </a:r>
            <a:endParaRPr lang="en-US" sz="1100" dirty="0"/>
          </a:p>
        </p:txBody>
      </p:sp>
      <p:pic>
        <p:nvPicPr>
          <p:cNvPr id="38" name="Picture 37" descr="01_auxiliaries_energy_consump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" y="2945799"/>
            <a:ext cx="5184648" cy="2795202"/>
          </a:xfrm>
          <a:prstGeom prst="rect">
            <a:avLst/>
          </a:prstGeom>
        </p:spPr>
      </p:pic>
      <p:pic>
        <p:nvPicPr>
          <p:cNvPr id="39" name="Picture 38" descr="11_tyres_energy_consumpt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2945799"/>
            <a:ext cx="5184648" cy="27952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Traction, EDU and Auxiliary Energy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Wheel, EDU, tyre and auxiliary demand from profile plots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8" name="Image 0" descr="icons/di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MECH POWER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15.17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27732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28900" y="1627632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3" name="Image 1" descr="icons/dis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881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9252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POWER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647188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306824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07992" y="1627632"/>
            <a:ext cx="420624" cy="420624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18" name="Image 2" descr="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73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38344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SPEED RL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26280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rpm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185916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7084" y="1627632"/>
            <a:ext cx="420624" cy="420624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23" name="Image 3" descr="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65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7436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TORQUE RL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405372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737.87 Nm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8065008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66176" y="16276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4" descr="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157" y="1749613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96528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TYRE RR ENERGY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284464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13.36 kWh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994410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145268" y="1627632"/>
            <a:ext cx="420624" cy="420624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33" name="Image 5" descr="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249" y="1749613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67562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ENERGY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16355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11.51 kWh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6" name="Shape 28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42" name="Picture 41" descr="03_power_at_wheels_and_ed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43" name="Picture 42" descr="11_tyres_energy_consump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EA76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1338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profile result snapshot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7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2087941"/>
            <a:ext cx="176662" cy="176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6596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8096" y="244144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4398264" y="17830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196596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12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413" y="2087941"/>
            <a:ext cx="176662" cy="1766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9784" y="196596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17720" y="244144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64.20 min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8247888" y="17830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9056" y="19659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icons/batt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037" y="2087941"/>
            <a:ext cx="176662" cy="1766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196596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467344" y="244144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12.69 %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0" name="Shape 15"/>
          <p:cNvSpPr/>
          <p:nvPr/>
        </p:nvSpPr>
        <p:spPr>
          <a:xfrm>
            <a:off x="548640" y="333756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35204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icons/drop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89" y="3642421"/>
            <a:ext cx="176662" cy="1766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5204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68096" y="399592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kg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5" name="Shape 19"/>
          <p:cNvSpPr/>
          <p:nvPr/>
        </p:nvSpPr>
        <p:spPr>
          <a:xfrm>
            <a:off x="4398264" y="333756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9432" y="35204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4" descr="icons/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413" y="3642421"/>
            <a:ext cx="176662" cy="1766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9784" y="35204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GEN POWER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617720" y="399592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0" name="Shape 23"/>
          <p:cNvSpPr/>
          <p:nvPr/>
        </p:nvSpPr>
        <p:spPr>
          <a:xfrm>
            <a:off x="8247888" y="333756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49056" y="3520440"/>
            <a:ext cx="420624" cy="420624"/>
          </a:xfrm>
          <a:prstGeom prst="ellipse">
            <a:avLst/>
          </a:prstGeom>
          <a:solidFill>
            <a:srgbClr val="3EA76B"/>
          </a:solidFill>
          <a:ln/>
        </p:spPr>
      </p:sp>
      <p:pic>
        <p:nvPicPr>
          <p:cNvPr id="32" name="Image 5" descr="icons/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037" y="3642421"/>
            <a:ext cx="176662" cy="17666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79408" y="35204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ENERGY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467344" y="399592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kWh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5" name="Shape 27"/>
          <p:cNvSpPr/>
          <p:nvPr/>
        </p:nvSpPr>
        <p:spPr>
          <a:xfrm>
            <a:off x="548640" y="5029200"/>
            <a:ext cx="11091672" cy="1170432"/>
          </a:xfrm>
          <a:prstGeom prst="roundRect">
            <a:avLst>
              <a:gd name="adj" fmla="val 5469"/>
            </a:avLst>
          </a:prstGeom>
          <a:solidFill>
            <a:srgbClr val="16344B"/>
          </a:solidFill>
          <a:ln w="9525">
            <a:solidFill>
              <a:srgbClr val="27516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22960" y="5029200"/>
            <a:ext cx="10515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run covered 12.00 km in 64.20 min.
Final battery SOC is 12.69 %.
Fuel consumption is 0.00 kg; maximum generator power is 0.00 kW.
Resolved ICE/generator channels are inactive/all-zero for this run.
Results are deterministic simulation outputs; acceptance conclusions require explicit engineering criteria.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v1.2.10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RoboSprayer Hybrid</dc:title>
  <dc:subject>RoboSprayer Hybrid deterministic profile engineering report</dc:subject>
  <dc:creator>VSM Engineering</dc:creator>
  <cp:lastModifiedBy>PptxGenJS</cp:lastModifiedBy>
  <cp:revision>1</cp:revision>
  <dcterms:created xsi:type="dcterms:W3CDTF">2026-08-14T14:02:45Z</dcterms:created>
  <dcterms:modified xsi:type="dcterms:W3CDTF">2026-08-14T14:02:45Z</dcterms:modified>
  <cp:keywords>VSM, RoboSprayer, profile-driven, engineering report</cp:keywords>
  <dc:description>Generated from deterministic profile outputs by v1.2.10.</dc:description>
</cp:coreProperties>
</file>