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Relationship Id="rId6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5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Relationship Id="rId5" Type="http://schemas.openxmlformats.org/officeDocument/2006/relationships/image" Target="../media/image2.png"/><Relationship Id="rId6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Relationship Id="rId5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57200" cy="457200"/>
          </a:xfrm>
          <a:prstGeom prst="ellipse">
            <a:avLst/>
          </a:prstGeom>
          <a:solidFill>
            <a:srgbClr val="2E56D0"/>
          </a:solidFill>
          <a:ln/>
          <a:effectLst>
            <a:outerShdw sx="100000" sy="100000" kx="0" ky="0" algn="bl" rotWithShape="0" blurRad="76200" dist="25400" dir="5400000">
              <a:srgbClr val="0A1524">
                <a:alpha val="30000"/>
              </a:srgbClr>
            </a:outerShdw>
          </a:effectLst>
        </p:spPr>
      </p:sp>
      <p:pic>
        <p:nvPicPr>
          <p:cNvPr id="3" name="Image 0" descr="assets/ic_tractor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58368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548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7FA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VSM ENGINEERING   ·   FEASIBILITY STUDY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11704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RoboSprayer Electric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566928" y="204825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feasibility study on a validated 347-sample electric field profile.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1221638" cy="402336"/>
          </a:xfrm>
          <a:prstGeom prst="roundRect">
            <a:avLst>
              <a:gd name="adj" fmla="val 50000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2743200"/>
            <a:ext cx="122163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GVW 3,500 kg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1934870" y="2743200"/>
            <a:ext cx="1752905" cy="402336"/>
          </a:xfrm>
          <a:prstGeom prst="roundRect">
            <a:avLst>
              <a:gd name="adj" fmla="val 50000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34870" y="2743200"/>
            <a:ext cx="175290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powertrain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852367" y="2743200"/>
            <a:ext cx="1221638" cy="402336"/>
          </a:xfrm>
          <a:prstGeom prst="roundRect">
            <a:avLst>
              <a:gd name="adj" fmla="val 50000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52367" y="2743200"/>
            <a:ext cx="122163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kph field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238598" y="2743200"/>
            <a:ext cx="1297534" cy="402336"/>
          </a:xfrm>
          <a:prstGeom prst="roundRect">
            <a:avLst>
              <a:gd name="adj" fmla="val 50000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38598" y="2743200"/>
            <a:ext cx="129753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50 kW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700723" y="2743200"/>
            <a:ext cx="1221638" cy="402336"/>
          </a:xfrm>
          <a:prstGeom prst="roundRect">
            <a:avLst>
              <a:gd name="adj" fmla="val 50000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00723" y="2743200"/>
            <a:ext cx="122163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63 rpm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529584"/>
            <a:ext cx="3547872" cy="1207008"/>
          </a:xfrm>
          <a:prstGeom prst="roundRect">
            <a:avLst>
              <a:gd name="adj" fmla="val 5303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" y="3685032"/>
            <a:ext cx="100584" cy="100584"/>
          </a:xfrm>
          <a:prstGeom prst="ellipse">
            <a:avLst/>
          </a:prstGeom>
          <a:solidFill>
            <a:srgbClr val="9DB4D6"/>
          </a:solidFill>
          <a:ln/>
        </p:spPr>
      </p:sp>
      <p:sp>
        <p:nvSpPr>
          <p:cNvPr id="19" name="Text 16"/>
          <p:cNvSpPr/>
          <p:nvPr/>
        </p:nvSpPr>
        <p:spPr>
          <a:xfrm>
            <a:off x="877824" y="3630168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41248" y="4059936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pPr algn="l" indent="0" marL="0">
              <a:buNone/>
            </a:pPr>
            <a:r>
              <a:rPr lang="en-US" sz="125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km</a:t>
            </a:r>
            <a:endParaRPr lang="en-US" sz="2500" dirty="0"/>
          </a:p>
        </p:txBody>
      </p:sp>
      <p:sp>
        <p:nvSpPr>
          <p:cNvPr id="21" name="Shape 18"/>
          <p:cNvSpPr/>
          <p:nvPr/>
        </p:nvSpPr>
        <p:spPr>
          <a:xfrm>
            <a:off x="4315968" y="3529584"/>
            <a:ext cx="3547872" cy="1207008"/>
          </a:xfrm>
          <a:prstGeom prst="roundRect">
            <a:avLst>
              <a:gd name="adj" fmla="val 5303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80560" y="3685032"/>
            <a:ext cx="100584" cy="100584"/>
          </a:xfrm>
          <a:prstGeom prst="ellipse">
            <a:avLst/>
          </a:prstGeom>
          <a:solidFill>
            <a:srgbClr val="9DB4D6"/>
          </a:solidFill>
          <a:ln/>
        </p:spPr>
      </p:sp>
      <p:sp>
        <p:nvSpPr>
          <p:cNvPr id="23" name="Text 20"/>
          <p:cNvSpPr/>
          <p:nvPr/>
        </p:nvSpPr>
        <p:spPr>
          <a:xfrm>
            <a:off x="4645152" y="3630168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TIME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608576" y="4059936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5.77</a:t>
            </a:r>
            <a:pPr algn="l" indent="0" marL="0">
              <a:buNone/>
            </a:pPr>
            <a:r>
              <a:rPr lang="en-US" sz="125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</a:t>
            </a:r>
            <a:endParaRPr lang="en-US" sz="2500" dirty="0"/>
          </a:p>
        </p:txBody>
      </p:sp>
      <p:sp>
        <p:nvSpPr>
          <p:cNvPr id="25" name="Shape 22"/>
          <p:cNvSpPr/>
          <p:nvPr/>
        </p:nvSpPr>
        <p:spPr>
          <a:xfrm>
            <a:off x="8083296" y="3529584"/>
            <a:ext cx="3547872" cy="1207008"/>
          </a:xfrm>
          <a:prstGeom prst="roundRect">
            <a:avLst>
              <a:gd name="adj" fmla="val 5303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47888" y="3685032"/>
            <a:ext cx="100584" cy="100584"/>
          </a:xfrm>
          <a:prstGeom prst="ellipse">
            <a:avLst/>
          </a:prstGeom>
          <a:solidFill>
            <a:srgbClr val="7FA6EF"/>
          </a:solidFill>
          <a:ln/>
        </p:spPr>
      </p:sp>
      <p:sp>
        <p:nvSpPr>
          <p:cNvPr id="27" name="Text 24"/>
          <p:cNvSpPr/>
          <p:nvPr/>
        </p:nvSpPr>
        <p:spPr>
          <a:xfrm>
            <a:off x="8412480" y="3630168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BATTERY SOC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375904" y="4059936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7FA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72.45</a:t>
            </a:r>
            <a:pPr algn="l" indent="0" marL="0">
              <a:buNone/>
            </a:pPr>
            <a:r>
              <a:rPr lang="en-US" sz="125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2500" dirty="0"/>
          </a:p>
        </p:txBody>
      </p:sp>
      <p:sp>
        <p:nvSpPr>
          <p:cNvPr id="29" name="Shape 26"/>
          <p:cNvSpPr/>
          <p:nvPr/>
        </p:nvSpPr>
        <p:spPr>
          <a:xfrm>
            <a:off x="548640" y="4919472"/>
            <a:ext cx="3547872" cy="1207008"/>
          </a:xfrm>
          <a:prstGeom prst="roundRect">
            <a:avLst>
              <a:gd name="adj" fmla="val 5303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3232" y="5074920"/>
            <a:ext cx="100584" cy="100584"/>
          </a:xfrm>
          <a:prstGeom prst="ellipse">
            <a:avLst/>
          </a:prstGeom>
          <a:solidFill>
            <a:srgbClr val="F0B25A"/>
          </a:solidFill>
          <a:ln/>
        </p:spPr>
      </p:sp>
      <p:sp>
        <p:nvSpPr>
          <p:cNvPr id="31" name="Text 28"/>
          <p:cNvSpPr/>
          <p:nvPr/>
        </p:nvSpPr>
        <p:spPr>
          <a:xfrm>
            <a:off x="877824" y="5020056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CONSUMPTION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41248" y="5449824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0B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3,778.1</a:t>
            </a:r>
            <a:pPr algn="l" indent="0" marL="0">
              <a:buNone/>
            </a:pPr>
            <a:r>
              <a:rPr lang="en-US" sz="125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Wh/km</a:t>
            </a:r>
            <a:endParaRPr lang="en-US" sz="2500" dirty="0"/>
          </a:p>
        </p:txBody>
      </p:sp>
      <p:sp>
        <p:nvSpPr>
          <p:cNvPr id="33" name="Shape 30"/>
          <p:cNvSpPr/>
          <p:nvPr/>
        </p:nvSpPr>
        <p:spPr>
          <a:xfrm>
            <a:off x="4315968" y="4919472"/>
            <a:ext cx="3547872" cy="1207008"/>
          </a:xfrm>
          <a:prstGeom prst="roundRect">
            <a:avLst>
              <a:gd name="adj" fmla="val 5303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480560" y="5074920"/>
            <a:ext cx="100584" cy="100584"/>
          </a:xfrm>
          <a:prstGeom prst="ellipse">
            <a:avLst/>
          </a:prstGeom>
          <a:solidFill>
            <a:srgbClr val="F0B25A"/>
          </a:solidFill>
          <a:ln/>
        </p:spPr>
      </p:sp>
      <p:sp>
        <p:nvSpPr>
          <p:cNvPr id="35" name="Text 32"/>
          <p:cNvSpPr/>
          <p:nvPr/>
        </p:nvSpPr>
        <p:spPr>
          <a:xfrm>
            <a:off x="4645152" y="5020056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@ 85%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608576" y="5449824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0B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11.25</a:t>
            </a:r>
            <a:pPr algn="l" indent="0" marL="0">
              <a:buNone/>
            </a:pPr>
            <a:r>
              <a:rPr lang="en-US" sz="125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km</a:t>
            </a:r>
            <a:endParaRPr lang="en-US" sz="2500" dirty="0"/>
          </a:p>
        </p:txBody>
      </p:sp>
      <p:sp>
        <p:nvSpPr>
          <p:cNvPr id="37" name="Shape 34"/>
          <p:cNvSpPr/>
          <p:nvPr/>
        </p:nvSpPr>
        <p:spPr>
          <a:xfrm>
            <a:off x="8083296" y="4919472"/>
            <a:ext cx="3547872" cy="1207008"/>
          </a:xfrm>
          <a:prstGeom prst="roundRect">
            <a:avLst>
              <a:gd name="adj" fmla="val 5303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247888" y="5074920"/>
            <a:ext cx="100584" cy="100584"/>
          </a:xfrm>
          <a:prstGeom prst="ellipse">
            <a:avLst/>
          </a:prstGeom>
          <a:solidFill>
            <a:srgbClr val="7FA6EF"/>
          </a:solidFill>
          <a:ln/>
        </p:spPr>
      </p:sp>
      <p:sp>
        <p:nvSpPr>
          <p:cNvPr id="39" name="Text 36"/>
          <p:cNvSpPr/>
          <p:nvPr/>
        </p:nvSpPr>
        <p:spPr>
          <a:xfrm>
            <a:off x="8412480" y="5020056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BATT POWER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8375904" y="5449824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7FA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47.92</a:t>
            </a:r>
            <a:pPr algn="l" indent="0" marL="0">
              <a:buNone/>
            </a:pPr>
            <a:r>
              <a:rPr lang="en-US" sz="125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</a:t>
            </a:r>
            <a:endParaRPr lang="en-US" sz="2500" dirty="0"/>
          </a:p>
        </p:txBody>
      </p:sp>
      <p:sp>
        <p:nvSpPr>
          <p:cNvPr id="41" name="Text 38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Samples: 347    |    Tool version: v1.3.0</a:t>
            </a:r>
            <a:pPr indent="0" marL="0">
              <a:buNone/>
            </a:pP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/  10</a:t>
            </a:r>
            <a:endParaRPr lang="en-US" sz="850" dirty="0"/>
          </a:p>
        </p:txBody>
      </p:sp>
      <p:pic>
        <p:nvPicPr>
          <p:cNvPr id="43" name="Picture 42" descr="astauto-light-text_we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9783" y="146304"/>
            <a:ext cx="1325880" cy="4291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2E56D0"/>
          </a:solidFill>
          <a:ln/>
          <a:effectLst>
            <a:outerShdw sx="100000" sy="100000" kx="0" ky="0" algn="bl" rotWithShape="0" blurRad="76200" dist="25400" dir="5400000">
              <a:srgbClr val="0A1524">
                <a:alpha val="25000"/>
              </a:srgbClr>
            </a:outerShdw>
          </a:effectLst>
        </p:spPr>
      </p:sp>
      <p:pic>
        <p:nvPicPr>
          <p:cNvPr id="3" name="Image 0" descr="assets/ic_rout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12648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&amp; Simulation Overview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344168" y="85953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profile resolution and deterministic simulation scope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1221638" cy="402336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417320"/>
            <a:ext cx="122163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GVW 3,500 kg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1934870" y="1417320"/>
            <a:ext cx="1752905" cy="402336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34870" y="1417320"/>
            <a:ext cx="175290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powertrain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852367" y="1417320"/>
            <a:ext cx="1221638" cy="402336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52367" y="1417320"/>
            <a:ext cx="122163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kph field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238598" y="1417320"/>
            <a:ext cx="1297534" cy="402336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38598" y="1417320"/>
            <a:ext cx="129753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50 kW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700723" y="1417320"/>
            <a:ext cx="1221638" cy="402336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00723" y="1417320"/>
            <a:ext cx="122163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63 rpm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2057400"/>
            <a:ext cx="544068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524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04672" y="2295144"/>
            <a:ext cx="457200" cy="457200"/>
          </a:xfrm>
          <a:prstGeom prst="ellipse">
            <a:avLst/>
          </a:prstGeom>
          <a:solidFill>
            <a:srgbClr val="2E56D0"/>
          </a:solidFill>
          <a:ln/>
        </p:spPr>
      </p:sp>
      <p:pic>
        <p:nvPicPr>
          <p:cNvPr id="18" name="Image 1" descr="assets/ic_dashboar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395728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417320" y="229514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 Structure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841248" y="2926080"/>
            <a:ext cx="48920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29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reporting profile: Electric.</a:t>
            </a:r>
            <a:endParaRPr lang="en-US" sz="115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29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Powertrain type: fully electric.</a:t>
            </a:r>
            <a:endParaRPr lang="en-US" sz="115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29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samples: 347  ·  source channels: 601.</a:t>
            </a:r>
            <a:endParaRPr lang="en-US" sz="115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29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required raw channels: 289 / 289.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199632" y="2057400"/>
            <a:ext cx="544068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524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455664" y="2295144"/>
            <a:ext cx="457200" cy="457200"/>
          </a:xfrm>
          <a:prstGeom prst="ellipse">
            <a:avLst/>
          </a:prstGeom>
          <a:solidFill>
            <a:srgbClr val="2E56D0"/>
          </a:solidFill>
          <a:ln/>
        </p:spPr>
      </p:sp>
      <p:pic>
        <p:nvPicPr>
          <p:cNvPr id="23" name="Image 2" descr="assets/ic_energy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2395728"/>
            <a:ext cx="256032" cy="25603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068312" y="229514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Computation Context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6492240" y="2926080"/>
            <a:ext cx="48920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29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MATH channels: 25.</a:t>
            </a:r>
            <a:endParaRPr lang="en-US" sz="115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29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statistics: 27  ·  KPIs: 9.</a:t>
            </a:r>
            <a:endParaRPr lang="en-US" sz="115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29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profile plots: 14.</a:t>
            </a:r>
            <a:endParaRPr lang="en-US" sz="115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29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/ all-zero resolved channels: 33.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548640" y="5230368"/>
            <a:ext cx="266319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13232" y="5385816"/>
            <a:ext cx="100584" cy="100584"/>
          </a:xfrm>
          <a:prstGeom prst="ellipse">
            <a:avLst/>
          </a:prstGeom>
          <a:solidFill>
            <a:srgbClr val="5C6B82"/>
          </a:solidFill>
          <a:ln/>
        </p:spPr>
      </p:sp>
      <p:sp>
        <p:nvSpPr>
          <p:cNvPr id="28" name="Text 23"/>
          <p:cNvSpPr/>
          <p:nvPr/>
        </p:nvSpPr>
        <p:spPr>
          <a:xfrm>
            <a:off x="877824" y="5330952"/>
            <a:ext cx="220599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TIME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841248" y="5596128"/>
            <a:ext cx="2279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5.77</a:t>
            </a:r>
            <a:pPr algn="l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</a:t>
            </a:r>
            <a:endParaRPr lang="en-US" sz="2400" dirty="0"/>
          </a:p>
        </p:txBody>
      </p:sp>
      <p:sp>
        <p:nvSpPr>
          <p:cNvPr id="30" name="Shape 25"/>
          <p:cNvSpPr/>
          <p:nvPr/>
        </p:nvSpPr>
        <p:spPr>
          <a:xfrm>
            <a:off x="3358134" y="5230368"/>
            <a:ext cx="266319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3522726" y="5385816"/>
            <a:ext cx="100584" cy="100584"/>
          </a:xfrm>
          <a:prstGeom prst="ellipse">
            <a:avLst/>
          </a:prstGeom>
          <a:solidFill>
            <a:srgbClr val="5C6B82"/>
          </a:solidFill>
          <a:ln/>
        </p:spPr>
      </p:sp>
      <p:sp>
        <p:nvSpPr>
          <p:cNvPr id="32" name="Text 27"/>
          <p:cNvSpPr/>
          <p:nvPr/>
        </p:nvSpPr>
        <p:spPr>
          <a:xfrm>
            <a:off x="3687318" y="5330952"/>
            <a:ext cx="220599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3650742" y="5596128"/>
            <a:ext cx="2279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pPr algn="l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km</a:t>
            </a:r>
            <a:endParaRPr lang="en-US" sz="2400" dirty="0"/>
          </a:p>
        </p:txBody>
      </p:sp>
      <p:sp>
        <p:nvSpPr>
          <p:cNvPr id="34" name="Shape 29"/>
          <p:cNvSpPr/>
          <p:nvPr/>
        </p:nvSpPr>
        <p:spPr>
          <a:xfrm>
            <a:off x="6167628" y="5230368"/>
            <a:ext cx="266319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6332220" y="5385816"/>
            <a:ext cx="100584" cy="100584"/>
          </a:xfrm>
          <a:prstGeom prst="ellipse">
            <a:avLst/>
          </a:prstGeom>
          <a:solidFill>
            <a:srgbClr val="5C6B82"/>
          </a:solidFill>
          <a:ln/>
        </p:spPr>
      </p:sp>
      <p:sp>
        <p:nvSpPr>
          <p:cNvPr id="36" name="Text 31"/>
          <p:cNvSpPr/>
          <p:nvPr/>
        </p:nvSpPr>
        <p:spPr>
          <a:xfrm>
            <a:off x="6496812" y="5330952"/>
            <a:ext cx="220599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SPEED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6460236" y="5596128"/>
            <a:ext cx="2279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14.93</a:t>
            </a:r>
            <a:pPr algn="l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kph</a:t>
            </a:r>
            <a:endParaRPr lang="en-US" sz="2400" dirty="0"/>
          </a:p>
        </p:txBody>
      </p:sp>
      <p:sp>
        <p:nvSpPr>
          <p:cNvPr id="38" name="Shape 33"/>
          <p:cNvSpPr/>
          <p:nvPr/>
        </p:nvSpPr>
        <p:spPr>
          <a:xfrm>
            <a:off x="8977122" y="5230368"/>
            <a:ext cx="266319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9141714" y="5385816"/>
            <a:ext cx="100584" cy="100584"/>
          </a:xfrm>
          <a:prstGeom prst="ellipse">
            <a:avLst/>
          </a:prstGeom>
          <a:solidFill>
            <a:srgbClr val="2E56D0"/>
          </a:solidFill>
          <a:ln/>
        </p:spPr>
      </p:sp>
      <p:sp>
        <p:nvSpPr>
          <p:cNvPr id="40" name="Text 35"/>
          <p:cNvSpPr/>
          <p:nvPr/>
        </p:nvSpPr>
        <p:spPr>
          <a:xfrm>
            <a:off x="9306306" y="5330952"/>
            <a:ext cx="220599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BATTERY SOC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9269730" y="5596128"/>
            <a:ext cx="2279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72.45</a:t>
            </a:r>
            <a:pPr algn="l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2400" dirty="0"/>
          </a:p>
        </p:txBody>
      </p:sp>
      <p:sp>
        <p:nvSpPr>
          <p:cNvPr id="42" name="Text 37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VSM ENGINEERING</a:t>
            </a:r>
            <a:pPr indent="0" marL="0">
              <a:buNone/>
            </a:pPr>
            <a:r>
              <a:rPr lang="en-US" sz="850" spc="12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POST-PROCESSING TOOL  v1.3.0</a:t>
            </a:r>
            <a:endParaRPr lang="en-US" sz="850" dirty="0"/>
          </a:p>
        </p:txBody>
      </p:sp>
      <p:sp>
        <p:nvSpPr>
          <p:cNvPr id="43" name="Text 38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/  10</a:t>
            </a:r>
            <a:endParaRPr lang="en-US" sz="850" dirty="0"/>
          </a:p>
        </p:txBody>
      </p:sp>
      <p:pic>
        <p:nvPicPr>
          <p:cNvPr id="44" name="Picture 43" descr="astauto-light-text_web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9783" y="146304"/>
            <a:ext cx="1325880" cy="4291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2E56D0"/>
          </a:solidFill>
          <a:ln/>
          <a:effectLst>
            <a:outerShdw sx="100000" sy="100000" kx="0" ky="0" algn="bl" rotWithShape="0" blurRad="76200" dist="25400" dir="5400000">
              <a:srgbClr val="0A1524">
                <a:alpha val="25000"/>
              </a:srgbClr>
            </a:outerShdw>
          </a:effectLst>
        </p:spPr>
      </p:sp>
      <p:pic>
        <p:nvPicPr>
          <p:cNvPr id="3" name="Image 0" descr="assets/ic_dashboar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12648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Results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344168" y="85953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KPIs from the validated profile pipeline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858000" y="502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A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110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  </a:t>
            </a:r>
            <a:pPr algn="r" indent="0" marL="0">
              <a:buNone/>
            </a:pPr>
            <a:r>
              <a:rPr lang="en-US" sz="1100" b="1" dirty="0">
                <a:solidFill>
                  <a:srgbClr val="F0B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110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  </a:t>
            </a:r>
            <a:pPr algn="r" indent="0" marL="0">
              <a:buNone/>
            </a:pPr>
            <a:r>
              <a:rPr lang="en-US" sz="1100" b="1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110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2578608" cy="1783080"/>
          </a:xfrm>
          <a:prstGeom prst="roundRect">
            <a:avLst>
              <a:gd name="adj" fmla="val 3590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3232" y="1847088"/>
            <a:ext cx="100584" cy="100584"/>
          </a:xfrm>
          <a:prstGeom prst="ellipse">
            <a:avLst/>
          </a:prstGeom>
          <a:solidFill>
            <a:srgbClr val="9DB4D6"/>
          </a:solidFill>
          <a:ln/>
        </p:spPr>
      </p:sp>
      <p:sp>
        <p:nvSpPr>
          <p:cNvPr id="9" name="Text 6"/>
          <p:cNvSpPr/>
          <p:nvPr/>
        </p:nvSpPr>
        <p:spPr>
          <a:xfrm>
            <a:off x="877824" y="1792224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TIME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41248" y="279806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5.77</a:t>
            </a:r>
            <a:pPr algn="l" indent="0" marL="0">
              <a:buNone/>
            </a:pPr>
            <a:r>
              <a:rPr lang="en-US" sz="160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3383280" y="1691640"/>
            <a:ext cx="2578608" cy="1783080"/>
          </a:xfrm>
          <a:prstGeom prst="roundRect">
            <a:avLst>
              <a:gd name="adj" fmla="val 3590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47872" y="1847088"/>
            <a:ext cx="100584" cy="100584"/>
          </a:xfrm>
          <a:prstGeom prst="ellipse">
            <a:avLst/>
          </a:prstGeom>
          <a:solidFill>
            <a:srgbClr val="9DB4D6"/>
          </a:solidFill>
          <a:ln/>
        </p:spPr>
      </p:sp>
      <p:sp>
        <p:nvSpPr>
          <p:cNvPr id="13" name="Text 10"/>
          <p:cNvSpPr/>
          <p:nvPr/>
        </p:nvSpPr>
        <p:spPr>
          <a:xfrm>
            <a:off x="3712464" y="1792224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675888" y="279806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pPr algn="l" indent="0" marL="0">
              <a:buNone/>
            </a:pPr>
            <a:r>
              <a:rPr lang="en-US" sz="160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km</a:t>
            </a:r>
            <a:endParaRPr lang="en-US" sz="3200" dirty="0"/>
          </a:p>
        </p:txBody>
      </p:sp>
      <p:sp>
        <p:nvSpPr>
          <p:cNvPr id="15" name="Shape 12"/>
          <p:cNvSpPr/>
          <p:nvPr/>
        </p:nvSpPr>
        <p:spPr>
          <a:xfrm>
            <a:off x="6217920" y="1691640"/>
            <a:ext cx="2578608" cy="1783080"/>
          </a:xfrm>
          <a:prstGeom prst="roundRect">
            <a:avLst>
              <a:gd name="adj" fmla="val 3590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82512" y="1847088"/>
            <a:ext cx="100584" cy="100584"/>
          </a:xfrm>
          <a:prstGeom prst="ellipse">
            <a:avLst/>
          </a:prstGeom>
          <a:solidFill>
            <a:srgbClr val="9DB4D6"/>
          </a:solidFill>
          <a:ln/>
        </p:spPr>
      </p:sp>
      <p:sp>
        <p:nvSpPr>
          <p:cNvPr id="17" name="Text 14"/>
          <p:cNvSpPr/>
          <p:nvPr/>
        </p:nvSpPr>
        <p:spPr>
          <a:xfrm>
            <a:off x="6547104" y="1792224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SPEED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510528" y="279806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14.93</a:t>
            </a:r>
            <a:pPr algn="l" indent="0" marL="0">
              <a:buNone/>
            </a:pPr>
            <a:r>
              <a:rPr lang="en-US" sz="160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kph</a:t>
            </a:r>
            <a:endParaRPr lang="en-US" sz="3200" dirty="0"/>
          </a:p>
        </p:txBody>
      </p:sp>
      <p:sp>
        <p:nvSpPr>
          <p:cNvPr id="19" name="Shape 16"/>
          <p:cNvSpPr/>
          <p:nvPr/>
        </p:nvSpPr>
        <p:spPr>
          <a:xfrm>
            <a:off x="9052560" y="1691640"/>
            <a:ext cx="2578608" cy="1783080"/>
          </a:xfrm>
          <a:prstGeom prst="roundRect">
            <a:avLst>
              <a:gd name="adj" fmla="val 3590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217152" y="1847088"/>
            <a:ext cx="100584" cy="100584"/>
          </a:xfrm>
          <a:prstGeom prst="ellipse">
            <a:avLst/>
          </a:prstGeom>
          <a:solidFill>
            <a:srgbClr val="7FA6EF"/>
          </a:solidFill>
          <a:ln/>
        </p:spPr>
      </p:sp>
      <p:sp>
        <p:nvSpPr>
          <p:cNvPr id="21" name="Text 18"/>
          <p:cNvSpPr/>
          <p:nvPr/>
        </p:nvSpPr>
        <p:spPr>
          <a:xfrm>
            <a:off x="9381744" y="1792224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BATTERY SOC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9345168" y="279806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FA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80.00</a:t>
            </a:r>
            <a:pPr algn="l" indent="0" marL="0">
              <a:buNone/>
            </a:pPr>
            <a:r>
              <a:rPr lang="en-US" sz="160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3200" dirty="0"/>
          </a:p>
        </p:txBody>
      </p:sp>
      <p:sp>
        <p:nvSpPr>
          <p:cNvPr id="23" name="Shape 20"/>
          <p:cNvSpPr/>
          <p:nvPr/>
        </p:nvSpPr>
        <p:spPr>
          <a:xfrm>
            <a:off x="548640" y="3712464"/>
            <a:ext cx="2578608" cy="1783080"/>
          </a:xfrm>
          <a:prstGeom prst="roundRect">
            <a:avLst>
              <a:gd name="adj" fmla="val 3590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13232" y="3867912"/>
            <a:ext cx="100584" cy="100584"/>
          </a:xfrm>
          <a:prstGeom prst="ellipse">
            <a:avLst/>
          </a:prstGeom>
          <a:solidFill>
            <a:srgbClr val="7FA6EF"/>
          </a:solidFill>
          <a:ln/>
        </p:spPr>
      </p:sp>
      <p:sp>
        <p:nvSpPr>
          <p:cNvPr id="25" name="Text 22"/>
          <p:cNvSpPr/>
          <p:nvPr/>
        </p:nvSpPr>
        <p:spPr>
          <a:xfrm>
            <a:off x="877824" y="3813048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BATTERY SOC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841248" y="48188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FA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72.45</a:t>
            </a:r>
            <a:pPr algn="l" indent="0" marL="0">
              <a:buNone/>
            </a:pPr>
            <a:r>
              <a:rPr lang="en-US" sz="160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3200" dirty="0"/>
          </a:p>
        </p:txBody>
      </p:sp>
      <p:sp>
        <p:nvSpPr>
          <p:cNvPr id="27" name="Shape 24"/>
          <p:cNvSpPr/>
          <p:nvPr/>
        </p:nvSpPr>
        <p:spPr>
          <a:xfrm>
            <a:off x="3383280" y="3712464"/>
            <a:ext cx="2578608" cy="1783080"/>
          </a:xfrm>
          <a:prstGeom prst="roundRect">
            <a:avLst>
              <a:gd name="adj" fmla="val 3590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47872" y="3867912"/>
            <a:ext cx="100584" cy="100584"/>
          </a:xfrm>
          <a:prstGeom prst="ellipse">
            <a:avLst/>
          </a:prstGeom>
          <a:solidFill>
            <a:srgbClr val="F0B25A"/>
          </a:solidFill>
          <a:ln/>
        </p:spPr>
      </p:sp>
      <p:sp>
        <p:nvSpPr>
          <p:cNvPr id="29" name="Text 26"/>
          <p:cNvSpPr/>
          <p:nvPr/>
        </p:nvSpPr>
        <p:spPr>
          <a:xfrm>
            <a:off x="3712464" y="3813048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CAPACITY USED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3675888" y="48188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0B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3.77</a:t>
            </a:r>
            <a:pPr algn="l" indent="0" marL="0">
              <a:buNone/>
            </a:pPr>
            <a:r>
              <a:rPr lang="en-US" sz="160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kWh</a:t>
            </a:r>
            <a:endParaRPr lang="en-US" sz="3200" dirty="0"/>
          </a:p>
        </p:txBody>
      </p:sp>
      <p:sp>
        <p:nvSpPr>
          <p:cNvPr id="31" name="Shape 28"/>
          <p:cNvSpPr/>
          <p:nvPr/>
        </p:nvSpPr>
        <p:spPr>
          <a:xfrm>
            <a:off x="6217920" y="3712464"/>
            <a:ext cx="2578608" cy="1783080"/>
          </a:xfrm>
          <a:prstGeom prst="roundRect">
            <a:avLst>
              <a:gd name="adj" fmla="val 3590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82512" y="3867912"/>
            <a:ext cx="100584" cy="100584"/>
          </a:xfrm>
          <a:prstGeom prst="ellipse">
            <a:avLst/>
          </a:prstGeom>
          <a:solidFill>
            <a:srgbClr val="F0B25A"/>
          </a:solidFill>
          <a:ln/>
        </p:spPr>
      </p:sp>
      <p:sp>
        <p:nvSpPr>
          <p:cNvPr id="33" name="Text 30"/>
          <p:cNvSpPr/>
          <p:nvPr/>
        </p:nvSpPr>
        <p:spPr>
          <a:xfrm>
            <a:off x="6547104" y="3813048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CONSUMPTION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6510528" y="48188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0B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3,778.1</a:t>
            </a:r>
            <a:pPr algn="l" indent="0" marL="0">
              <a:buNone/>
            </a:pPr>
            <a:r>
              <a:rPr lang="en-US" sz="160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Wh/km</a:t>
            </a:r>
            <a:endParaRPr lang="en-US" sz="3200" dirty="0"/>
          </a:p>
        </p:txBody>
      </p:sp>
      <p:sp>
        <p:nvSpPr>
          <p:cNvPr id="35" name="Shape 32"/>
          <p:cNvSpPr/>
          <p:nvPr/>
        </p:nvSpPr>
        <p:spPr>
          <a:xfrm>
            <a:off x="9052560" y="3712464"/>
            <a:ext cx="2578608" cy="1783080"/>
          </a:xfrm>
          <a:prstGeom prst="roundRect">
            <a:avLst>
              <a:gd name="adj" fmla="val 3590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217152" y="3867912"/>
            <a:ext cx="100584" cy="100584"/>
          </a:xfrm>
          <a:prstGeom prst="ellipse">
            <a:avLst/>
          </a:prstGeom>
          <a:solidFill>
            <a:srgbClr val="F0B25A"/>
          </a:solidFill>
          <a:ln/>
        </p:spPr>
      </p:sp>
      <p:sp>
        <p:nvSpPr>
          <p:cNvPr id="37" name="Text 34"/>
          <p:cNvSpPr/>
          <p:nvPr/>
        </p:nvSpPr>
        <p:spPr>
          <a:xfrm>
            <a:off x="9381744" y="3813048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@ 85%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9345168" y="48188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0B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11.25</a:t>
            </a:r>
            <a:pPr algn="l" indent="0" marL="0">
              <a:buNone/>
            </a:pPr>
            <a:r>
              <a:rPr lang="en-US" sz="160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km</a:t>
            </a:r>
            <a:endParaRPr lang="en-US" sz="3200" dirty="0"/>
          </a:p>
        </p:txBody>
      </p:sp>
      <p:sp>
        <p:nvSpPr>
          <p:cNvPr id="39" name="Text 36"/>
          <p:cNvSpPr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Calculations are sourced from the profile statistics and KPI results.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VSM ENGINEERING</a:t>
            </a:r>
            <a:pPr indent="0" marL="0">
              <a:buNone/>
            </a:pPr>
            <a:r>
              <a:rPr lang="en-US" sz="850" spc="12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POST-PROCESSING TOOL  v1.3.0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/  10</a:t>
            </a:r>
            <a:endParaRPr lang="en-US" sz="850" dirty="0"/>
          </a:p>
        </p:txBody>
      </p:sp>
      <p:pic>
        <p:nvPicPr>
          <p:cNvPr id="42" name="Picture 41" descr="astauto-light-text_we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9783" y="146304"/>
            <a:ext cx="1325880" cy="4291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2E56D0"/>
          </a:solidFill>
          <a:ln/>
          <a:effectLst>
            <a:outerShdw sx="100000" sy="100000" kx="0" ky="0" algn="bl" rotWithShape="0" blurRad="76200" dist="25400" dir="5400000">
              <a:srgbClr val="0A1524">
                <a:alpha val="25000"/>
              </a:srgbClr>
            </a:outerShdw>
          </a:effectLst>
        </p:spPr>
      </p:sp>
      <p:pic>
        <p:nvPicPr>
          <p:cNvPr id="3" name="Image 0" descr="assets/ic_gaug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12648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Operation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344168" y="85953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trace from the validated profile plot output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266319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1728216"/>
            <a:ext cx="100584" cy="100584"/>
          </a:xfrm>
          <a:prstGeom prst="ellipse">
            <a:avLst/>
          </a:prstGeom>
          <a:solidFill>
            <a:srgbClr val="5C6B82"/>
          </a:solidFill>
          <a:ln/>
        </p:spPr>
      </p:sp>
      <p:sp>
        <p:nvSpPr>
          <p:cNvPr id="8" name="Text 5"/>
          <p:cNvSpPr/>
          <p:nvPr/>
        </p:nvSpPr>
        <p:spPr>
          <a:xfrm>
            <a:off x="877824" y="1673352"/>
            <a:ext cx="220599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41248" y="1938528"/>
            <a:ext cx="2279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pPr algn="l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km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3358134" y="1572768"/>
            <a:ext cx="266319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22726" y="1728216"/>
            <a:ext cx="100584" cy="100584"/>
          </a:xfrm>
          <a:prstGeom prst="ellipse">
            <a:avLst/>
          </a:prstGeom>
          <a:solidFill>
            <a:srgbClr val="5C6B82"/>
          </a:solidFill>
          <a:ln/>
        </p:spPr>
      </p:sp>
      <p:sp>
        <p:nvSpPr>
          <p:cNvPr id="12" name="Text 9"/>
          <p:cNvSpPr/>
          <p:nvPr/>
        </p:nvSpPr>
        <p:spPr>
          <a:xfrm>
            <a:off x="3687318" y="1673352"/>
            <a:ext cx="220599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TIME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650742" y="1938528"/>
            <a:ext cx="2279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5.77</a:t>
            </a:r>
            <a:pPr algn="l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6167628" y="1572768"/>
            <a:ext cx="266319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32220" y="1728216"/>
            <a:ext cx="100584" cy="100584"/>
          </a:xfrm>
          <a:prstGeom prst="ellipse">
            <a:avLst/>
          </a:prstGeom>
          <a:solidFill>
            <a:srgbClr val="5C6B82"/>
          </a:solidFill>
          <a:ln/>
        </p:spPr>
      </p:sp>
      <p:sp>
        <p:nvSpPr>
          <p:cNvPr id="16" name="Text 13"/>
          <p:cNvSpPr/>
          <p:nvPr/>
        </p:nvSpPr>
        <p:spPr>
          <a:xfrm>
            <a:off x="6496812" y="1673352"/>
            <a:ext cx="220599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SPEED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460236" y="1938528"/>
            <a:ext cx="2279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14.93</a:t>
            </a:r>
            <a:pPr algn="l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kph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8977122" y="1572768"/>
            <a:ext cx="266319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9141714" y="1728216"/>
            <a:ext cx="100584" cy="100584"/>
          </a:xfrm>
          <a:prstGeom prst="ellipse">
            <a:avLst/>
          </a:prstGeom>
          <a:solidFill>
            <a:srgbClr val="2E56D0"/>
          </a:solidFill>
          <a:ln/>
        </p:spPr>
      </p:sp>
      <p:sp>
        <p:nvSpPr>
          <p:cNvPr id="20" name="Text 17"/>
          <p:cNvSpPr/>
          <p:nvPr/>
        </p:nvSpPr>
        <p:spPr>
          <a:xfrm>
            <a:off x="9306306" y="1673352"/>
            <a:ext cx="220599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BATTERY SOC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9269730" y="1938528"/>
            <a:ext cx="2279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72.45</a:t>
            </a:r>
            <a:pPr algn="l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2776576" y="2880360"/>
            <a:ext cx="6638544" cy="34290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A1524">
                <a:alpha val="13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VSM ENGINEERING</a:t>
            </a:r>
            <a:pPr indent="0" marL="0">
              <a:buNone/>
            </a:pPr>
            <a:r>
              <a:rPr lang="en-US" sz="850" spc="12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POST-PROCESSING TOOL  v1.3.0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/  10</a:t>
            </a:r>
            <a:endParaRPr lang="en-US" sz="850" dirty="0"/>
          </a:p>
        </p:txBody>
      </p:sp>
      <p:pic>
        <p:nvPicPr>
          <p:cNvPr id="26" name="Picture 25" descr="02_speed_vs_dist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6304" y="2990088"/>
            <a:ext cx="6419088" cy="3209544"/>
          </a:xfrm>
          <a:prstGeom prst="rect">
            <a:avLst/>
          </a:prstGeom>
        </p:spPr>
      </p:pic>
      <p:pic>
        <p:nvPicPr>
          <p:cNvPr id="27" name="Picture 26" descr="astauto-light-text_web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9783" y="146304"/>
            <a:ext cx="1325880" cy="4291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2E56D0"/>
          </a:solidFill>
          <a:ln/>
          <a:effectLst>
            <a:outerShdw sx="100000" sy="100000" kx="0" ky="0" algn="bl" rotWithShape="0" blurRad="76200" dist="25400" dir="5400000">
              <a:srgbClr val="0A1524">
                <a:alpha val="25000"/>
              </a:srgbClr>
            </a:outerShdw>
          </a:effectLst>
        </p:spPr>
      </p:sp>
      <p:pic>
        <p:nvPicPr>
          <p:cNvPr id="3" name="Image 0" descr="assets/ic_battery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12648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Battery &amp; Electrical Energy System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344168" y="85953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charge, stored energy and battery demand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1728216"/>
            <a:ext cx="100584" cy="100584"/>
          </a:xfrm>
          <a:prstGeom prst="ellipse">
            <a:avLst/>
          </a:prstGeom>
          <a:solidFill>
            <a:srgbClr val="2E56D0"/>
          </a:solidFill>
          <a:ln/>
        </p:spPr>
      </p:sp>
      <p:sp>
        <p:nvSpPr>
          <p:cNvPr id="8" name="Text 5"/>
          <p:cNvSpPr/>
          <p:nvPr/>
        </p:nvSpPr>
        <p:spPr>
          <a:xfrm>
            <a:off x="877824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BATTERY SOC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41248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80.00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2421636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86228" y="1728216"/>
            <a:ext cx="100584" cy="100584"/>
          </a:xfrm>
          <a:prstGeom prst="ellipse">
            <a:avLst/>
          </a:prstGeom>
          <a:solidFill>
            <a:srgbClr val="2E56D0"/>
          </a:solidFill>
          <a:ln/>
        </p:spPr>
      </p:sp>
      <p:sp>
        <p:nvSpPr>
          <p:cNvPr id="12" name="Text 9"/>
          <p:cNvSpPr/>
          <p:nvPr/>
        </p:nvSpPr>
        <p:spPr>
          <a:xfrm>
            <a:off x="2750820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BATTERY SOC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714244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72.45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4294632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59224" y="1728216"/>
            <a:ext cx="100584" cy="100584"/>
          </a:xfrm>
          <a:prstGeom prst="ellipse">
            <a:avLst/>
          </a:prstGeom>
          <a:solidFill>
            <a:srgbClr val="2E56D0"/>
          </a:solidFill>
          <a:ln/>
        </p:spPr>
      </p:sp>
      <p:sp>
        <p:nvSpPr>
          <p:cNvPr id="16" name="Text 13"/>
          <p:cNvSpPr/>
          <p:nvPr/>
        </p:nvSpPr>
        <p:spPr>
          <a:xfrm>
            <a:off x="4623816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BATT POWER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87240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47.92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6167628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332220" y="1728216"/>
            <a:ext cx="100584" cy="100584"/>
          </a:xfrm>
          <a:prstGeom prst="ellipse">
            <a:avLst/>
          </a:prstGeom>
          <a:solidFill>
            <a:srgbClr val="2E56D0"/>
          </a:solidFill>
          <a:ln/>
        </p:spPr>
      </p:sp>
      <p:sp>
        <p:nvSpPr>
          <p:cNvPr id="20" name="Text 17"/>
          <p:cNvSpPr/>
          <p:nvPr/>
        </p:nvSpPr>
        <p:spPr>
          <a:xfrm>
            <a:off x="6496812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 POWER RMS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460236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36.78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8040624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205216" y="1728216"/>
            <a:ext cx="100584" cy="100584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24" name="Text 21"/>
          <p:cNvSpPr/>
          <p:nvPr/>
        </p:nvSpPr>
        <p:spPr>
          <a:xfrm>
            <a:off x="8369808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HEATFLOW RMS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333232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3.64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9913620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0078212" y="1728216"/>
            <a:ext cx="100584" cy="100584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242804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CAPACITY USED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0206228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3.77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kWh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548640" y="3144393"/>
            <a:ext cx="5436108" cy="2827782"/>
          </a:xfrm>
          <a:prstGeom prst="roundRect">
            <a:avLst>
              <a:gd name="adj" fmla="val 16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A1524">
                <a:alpha val="13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204204" y="3144393"/>
            <a:ext cx="5436108" cy="2827782"/>
          </a:xfrm>
          <a:prstGeom prst="roundRect">
            <a:avLst>
              <a:gd name="adj" fmla="val 16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A1524">
                <a:alpha val="13000"/>
              </a:srgbClr>
            </a:outerShdw>
          </a:effectLst>
        </p:spPr>
      </p:sp>
      <p:sp>
        <p:nvSpPr>
          <p:cNvPr id="34" name="Text 29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VSM ENGINEERING</a:t>
            </a:r>
            <a:pPr indent="0" marL="0">
              <a:buNone/>
            </a:pPr>
            <a:r>
              <a:rPr lang="en-US" sz="850" spc="12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POST-PROCESSING TOOL  v1.3.0</a:t>
            </a:r>
            <a:endParaRPr lang="en-US" sz="850" dirty="0"/>
          </a:p>
        </p:txBody>
      </p:sp>
      <p:sp>
        <p:nvSpPr>
          <p:cNvPr id="35" name="Text 30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/  10</a:t>
            </a:r>
            <a:endParaRPr lang="en-US" sz="850" dirty="0"/>
          </a:p>
        </p:txBody>
      </p:sp>
      <p:pic>
        <p:nvPicPr>
          <p:cNvPr id="36" name="Picture 35" descr="08_battery_so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254121"/>
            <a:ext cx="5216652" cy="2608326"/>
          </a:xfrm>
          <a:prstGeom prst="rect">
            <a:avLst/>
          </a:prstGeom>
        </p:spPr>
      </p:pic>
      <p:pic>
        <p:nvPicPr>
          <p:cNvPr id="37" name="Picture 36" descr="10_battery_energy_time_bas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3932" y="3254121"/>
            <a:ext cx="5216652" cy="2608326"/>
          </a:xfrm>
          <a:prstGeom prst="rect">
            <a:avLst/>
          </a:prstGeom>
        </p:spPr>
      </p:pic>
      <p:pic>
        <p:nvPicPr>
          <p:cNvPr id="38" name="Picture 37" descr="astauto-light-text_web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09783" y="146304"/>
            <a:ext cx="1325880" cy="4291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2E56D0"/>
          </a:solidFill>
          <a:ln/>
          <a:effectLst>
            <a:outerShdw sx="100000" sy="100000" kx="0" ky="0" algn="bl" rotWithShape="0" blurRad="76200" dist="25400" dir="5400000">
              <a:srgbClr val="0A1524">
                <a:alpha val="25000"/>
              </a:srgbClr>
            </a:outerShdw>
          </a:effectLst>
        </p:spPr>
      </p:sp>
      <p:pic>
        <p:nvPicPr>
          <p:cNvPr id="3" name="Image 0" descr="assets/ic_recycl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12648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Battery Power &amp; Energy Recovery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344168" y="85953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/ discharge behaviour and released / recuperated energy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2101291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1728216"/>
            <a:ext cx="100584" cy="100584"/>
          </a:xfrm>
          <a:prstGeom prst="ellipse">
            <a:avLst/>
          </a:prstGeom>
          <a:solidFill>
            <a:srgbClr val="2E56D0"/>
          </a:solidFill>
          <a:ln/>
        </p:spPr>
      </p:sp>
      <p:sp>
        <p:nvSpPr>
          <p:cNvPr id="8" name="Text 5"/>
          <p:cNvSpPr/>
          <p:nvPr/>
        </p:nvSpPr>
        <p:spPr>
          <a:xfrm>
            <a:off x="877824" y="1673352"/>
            <a:ext cx="1644091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 POWER RMS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41248" y="2066544"/>
            <a:ext cx="1717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36.78</a:t>
            </a:r>
            <a:pPr algn="l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796235" y="1572768"/>
            <a:ext cx="2101291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960827" y="1728216"/>
            <a:ext cx="100584" cy="100584"/>
          </a:xfrm>
          <a:prstGeom prst="ellipse">
            <a:avLst/>
          </a:prstGeom>
          <a:solidFill>
            <a:srgbClr val="2E56D0"/>
          </a:solidFill>
          <a:ln/>
        </p:spPr>
      </p:sp>
      <p:sp>
        <p:nvSpPr>
          <p:cNvPr id="12" name="Text 9"/>
          <p:cNvSpPr/>
          <p:nvPr/>
        </p:nvSpPr>
        <p:spPr>
          <a:xfrm>
            <a:off x="3125419" y="1673352"/>
            <a:ext cx="1644091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RELEASED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088843" y="2066544"/>
            <a:ext cx="1717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1.80</a:t>
            </a:r>
            <a:pPr algn="l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kWh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5043830" y="1572768"/>
            <a:ext cx="2101291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208422" y="1728216"/>
            <a:ext cx="100584" cy="100584"/>
          </a:xfrm>
          <a:prstGeom prst="ellipse">
            <a:avLst/>
          </a:prstGeom>
          <a:solidFill>
            <a:srgbClr val="2E56D0"/>
          </a:solidFill>
          <a:ln/>
        </p:spPr>
      </p:sp>
      <p:sp>
        <p:nvSpPr>
          <p:cNvPr id="16" name="Text 13"/>
          <p:cNvSpPr/>
          <p:nvPr/>
        </p:nvSpPr>
        <p:spPr>
          <a:xfrm>
            <a:off x="5373014" y="1673352"/>
            <a:ext cx="1644091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RECOVERED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336438" y="2066544"/>
            <a:ext cx="1717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pPr algn="l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kWh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7291426" y="1572768"/>
            <a:ext cx="2101291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456018" y="1728216"/>
            <a:ext cx="100584" cy="100584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20" name="Text 17"/>
          <p:cNvSpPr/>
          <p:nvPr/>
        </p:nvSpPr>
        <p:spPr>
          <a:xfrm>
            <a:off x="7620610" y="1673352"/>
            <a:ext cx="1644091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ENERGY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584034" y="2066544"/>
            <a:ext cx="1717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1.04</a:t>
            </a:r>
            <a:pPr algn="l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kWh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9539021" y="1572768"/>
            <a:ext cx="2101291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703613" y="1728216"/>
            <a:ext cx="100584" cy="100584"/>
          </a:xfrm>
          <a:prstGeom prst="ellipse">
            <a:avLst/>
          </a:prstGeom>
          <a:solidFill>
            <a:srgbClr val="2E56D0"/>
          </a:solidFill>
          <a:ln/>
        </p:spPr>
      </p:sp>
      <p:sp>
        <p:nvSpPr>
          <p:cNvPr id="24" name="Text 21"/>
          <p:cNvSpPr/>
          <p:nvPr/>
        </p:nvSpPr>
        <p:spPr>
          <a:xfrm>
            <a:off x="9868205" y="1673352"/>
            <a:ext cx="1644091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BATT POWER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9831629" y="2066544"/>
            <a:ext cx="1717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47.92</a:t>
            </a:r>
            <a:pPr algn="l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</a:t>
            </a:r>
            <a:endParaRPr lang="en-US" sz="2200" dirty="0"/>
          </a:p>
        </p:txBody>
      </p:sp>
      <p:sp>
        <p:nvSpPr>
          <p:cNvPr id="26" name="Shape 23"/>
          <p:cNvSpPr/>
          <p:nvPr/>
        </p:nvSpPr>
        <p:spPr>
          <a:xfrm>
            <a:off x="548640" y="3144393"/>
            <a:ext cx="5436108" cy="2827782"/>
          </a:xfrm>
          <a:prstGeom prst="roundRect">
            <a:avLst>
              <a:gd name="adj" fmla="val 16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A1524">
                <a:alpha val="13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204204" y="3144393"/>
            <a:ext cx="5436108" cy="2827782"/>
          </a:xfrm>
          <a:prstGeom prst="roundRect">
            <a:avLst>
              <a:gd name="adj" fmla="val 16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A1524">
                <a:alpha val="13000"/>
              </a:srgbClr>
            </a:outerShdw>
          </a:effectLst>
        </p:spPr>
      </p:sp>
      <p:sp>
        <p:nvSpPr>
          <p:cNvPr id="30" name="Text 25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VSM ENGINEERING</a:t>
            </a:r>
            <a:pPr indent="0" marL="0">
              <a:buNone/>
            </a:pPr>
            <a:r>
              <a:rPr lang="en-US" sz="850" spc="12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POST-PROCESSING TOOL  v1.3.0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/  10</a:t>
            </a:r>
            <a:endParaRPr lang="en-US" sz="850" dirty="0"/>
          </a:p>
        </p:txBody>
      </p:sp>
      <p:pic>
        <p:nvPicPr>
          <p:cNvPr id="32" name="Picture 31" descr="04_battery_power_charge_dischar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254121"/>
            <a:ext cx="5216652" cy="2608326"/>
          </a:xfrm>
          <a:prstGeom prst="rect">
            <a:avLst/>
          </a:prstGeom>
        </p:spPr>
      </p:pic>
      <p:pic>
        <p:nvPicPr>
          <p:cNvPr id="33" name="Picture 32" descr="06_energy_releas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3932" y="3254121"/>
            <a:ext cx="5216652" cy="2608326"/>
          </a:xfrm>
          <a:prstGeom prst="rect">
            <a:avLst/>
          </a:prstGeom>
        </p:spPr>
      </p:pic>
      <p:pic>
        <p:nvPicPr>
          <p:cNvPr id="34" name="Picture 33" descr="astauto-light-text_web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09783" y="146304"/>
            <a:ext cx="1325880" cy="4291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D98A2B"/>
          </a:solidFill>
          <a:ln/>
          <a:effectLst>
            <a:outerShdw sx="100000" sy="100000" kx="0" ky="0" algn="bl" rotWithShape="0" blurRad="76200" dist="25400" dir="5400000">
              <a:srgbClr val="0A1524">
                <a:alpha val="25000"/>
              </a:srgbClr>
            </a:outerShdw>
          </a:effectLst>
        </p:spPr>
      </p:sp>
      <p:pic>
        <p:nvPicPr>
          <p:cNvPr id="3" name="Image 0" descr="assets/ic_rang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12648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Consumption &amp; Estimated Range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344168" y="85953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energy consumption and range indicators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1728216"/>
            <a:ext cx="100584" cy="100584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8" name="Text 5"/>
          <p:cNvSpPr/>
          <p:nvPr/>
        </p:nvSpPr>
        <p:spPr>
          <a:xfrm>
            <a:off x="877824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CAPACITY USED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41248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3.77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kWh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2421636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86228" y="1728216"/>
            <a:ext cx="100584" cy="100584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12" name="Text 9"/>
          <p:cNvSpPr/>
          <p:nvPr/>
        </p:nvSpPr>
        <p:spPr>
          <a:xfrm>
            <a:off x="2750820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CONSUMPTION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714244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3,778.1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Wh/km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4294632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59224" y="1728216"/>
            <a:ext cx="100584" cy="100584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16" name="Text 13"/>
          <p:cNvSpPr/>
          <p:nvPr/>
        </p:nvSpPr>
        <p:spPr>
          <a:xfrm>
            <a:off x="4623816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@ 85%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87240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11.25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km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6167628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332220" y="1728216"/>
            <a:ext cx="100584" cy="100584"/>
          </a:xfrm>
          <a:prstGeom prst="ellipse">
            <a:avLst/>
          </a:prstGeom>
          <a:solidFill>
            <a:srgbClr val="2E56D0"/>
          </a:solidFill>
          <a:ln/>
        </p:spPr>
      </p:sp>
      <p:sp>
        <p:nvSpPr>
          <p:cNvPr id="20" name="Text 17"/>
          <p:cNvSpPr/>
          <p:nvPr/>
        </p:nvSpPr>
        <p:spPr>
          <a:xfrm>
            <a:off x="6496812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BATTERY SOC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460236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72.45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8040624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205216" y="1728216"/>
            <a:ext cx="100584" cy="100584"/>
          </a:xfrm>
          <a:prstGeom prst="ellipse">
            <a:avLst/>
          </a:prstGeom>
          <a:solidFill>
            <a:srgbClr val="2E56D0"/>
          </a:solidFill>
          <a:ln/>
        </p:spPr>
      </p:sp>
      <p:sp>
        <p:nvSpPr>
          <p:cNvPr id="24" name="Text 21"/>
          <p:cNvSpPr/>
          <p:nvPr/>
        </p:nvSpPr>
        <p:spPr>
          <a:xfrm>
            <a:off x="8369808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BATT POWER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333232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47.92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9913620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0078212" y="1728216"/>
            <a:ext cx="100584" cy="100584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242804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ENERGY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0206228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1.04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kWh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548640" y="2929509"/>
            <a:ext cx="5436108" cy="2827782"/>
          </a:xfrm>
          <a:prstGeom prst="roundRect">
            <a:avLst>
              <a:gd name="adj" fmla="val 16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A1524">
                <a:alpha val="13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204204" y="2929509"/>
            <a:ext cx="5436108" cy="2827782"/>
          </a:xfrm>
          <a:prstGeom prst="roundRect">
            <a:avLst>
              <a:gd name="adj" fmla="val 16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A1524">
                <a:alpha val="13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548640" y="5998464"/>
            <a:ext cx="11091672" cy="329184"/>
          </a:xfrm>
          <a:prstGeom prst="roundRect">
            <a:avLst>
              <a:gd name="adj" fmla="val 13889"/>
            </a:avLst>
          </a:prstGeom>
          <a:solidFill>
            <a:srgbClr val="FBF1E3"/>
          </a:solidFill>
          <a:ln w="12700">
            <a:solidFill>
              <a:srgbClr val="F0D9B8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31520" y="6080760"/>
            <a:ext cx="164592" cy="164592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36" name="Text 31"/>
          <p:cNvSpPr/>
          <p:nvPr/>
        </p:nvSpPr>
        <p:spPr>
          <a:xfrm>
            <a:off x="1024128" y="5998464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5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and consumption are deterministic profile KPI outputs.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VSM ENGINEERING</a:t>
            </a:r>
            <a:pPr indent="0" marL="0">
              <a:buNone/>
            </a:pPr>
            <a:r>
              <a:rPr lang="en-US" sz="850" spc="12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POST-PROCESSING TOOL  v1.3.0</a:t>
            </a:r>
            <a:endParaRPr lang="en-US" sz="850" dirty="0"/>
          </a:p>
        </p:txBody>
      </p:sp>
      <p:sp>
        <p:nvSpPr>
          <p:cNvPr id="38" name="Text 33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/  10</a:t>
            </a:r>
            <a:endParaRPr lang="en-US" sz="850" dirty="0"/>
          </a:p>
        </p:txBody>
      </p:sp>
      <p:pic>
        <p:nvPicPr>
          <p:cNvPr id="39" name="Picture 38" descr="05_battery_energy_distance_bas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039237"/>
            <a:ext cx="5216652" cy="2608326"/>
          </a:xfrm>
          <a:prstGeom prst="rect">
            <a:avLst/>
          </a:prstGeom>
        </p:spPr>
      </p:pic>
      <p:pic>
        <p:nvPicPr>
          <p:cNvPr id="40" name="Picture 39" descr="01_auxiliaries_energy_consump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3932" y="3039237"/>
            <a:ext cx="5216652" cy="2608326"/>
          </a:xfrm>
          <a:prstGeom prst="rect">
            <a:avLst/>
          </a:prstGeom>
        </p:spPr>
      </p:pic>
      <p:pic>
        <p:nvPicPr>
          <p:cNvPr id="41" name="Picture 40" descr="astauto-light-text_web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09783" y="146304"/>
            <a:ext cx="1325880" cy="4291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2E56D0"/>
          </a:solidFill>
          <a:ln/>
          <a:effectLst>
            <a:outerShdw sx="100000" sy="100000" kx="0" ky="0" algn="bl" rotWithShape="0" blurRad="76200" dist="25400" dir="5400000">
              <a:srgbClr val="0A1524">
                <a:alpha val="25000"/>
              </a:srgbClr>
            </a:outerShdw>
          </a:effectLst>
        </p:spPr>
      </p:sp>
      <p:pic>
        <p:nvPicPr>
          <p:cNvPr id="3" name="Image 0" descr="assets/ic_drople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12648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Agrochemical &amp; Battery Behaviour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344168" y="85953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Profile-supported system interaction from the active source data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266319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1728216"/>
            <a:ext cx="100584" cy="100584"/>
          </a:xfrm>
          <a:prstGeom prst="ellipse">
            <a:avLst/>
          </a:prstGeom>
          <a:solidFill>
            <a:srgbClr val="5C6B82"/>
          </a:solidFill>
          <a:ln/>
        </p:spPr>
      </p:sp>
      <p:sp>
        <p:nvSpPr>
          <p:cNvPr id="8" name="Text 5"/>
          <p:cNvSpPr/>
          <p:nvPr/>
        </p:nvSpPr>
        <p:spPr>
          <a:xfrm>
            <a:off x="877824" y="1673352"/>
            <a:ext cx="220599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 DISCHARGE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41248" y="1938528"/>
            <a:ext cx="2279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499.83</a:t>
            </a:r>
            <a:pPr algn="l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kg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3358134" y="1572768"/>
            <a:ext cx="266319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22726" y="1728216"/>
            <a:ext cx="100584" cy="100584"/>
          </a:xfrm>
          <a:prstGeom prst="ellipse">
            <a:avLst/>
          </a:prstGeom>
          <a:solidFill>
            <a:srgbClr val="2E56D0"/>
          </a:solidFill>
          <a:ln/>
        </p:spPr>
      </p:sp>
      <p:sp>
        <p:nvSpPr>
          <p:cNvPr id="12" name="Text 9"/>
          <p:cNvSpPr/>
          <p:nvPr/>
        </p:nvSpPr>
        <p:spPr>
          <a:xfrm>
            <a:off x="3687318" y="1673352"/>
            <a:ext cx="220599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BATTERY SOC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650742" y="1938528"/>
            <a:ext cx="2279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72.45</a:t>
            </a:r>
            <a:pPr algn="l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6167628" y="1572768"/>
            <a:ext cx="266319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32220" y="1728216"/>
            <a:ext cx="100584" cy="100584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16" name="Text 13"/>
          <p:cNvSpPr/>
          <p:nvPr/>
        </p:nvSpPr>
        <p:spPr>
          <a:xfrm>
            <a:off x="6496812" y="1673352"/>
            <a:ext cx="220599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CAPACITY USED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460236" y="1938528"/>
            <a:ext cx="2279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3.77</a:t>
            </a:r>
            <a:pPr algn="l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kWh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8977122" y="1572768"/>
            <a:ext cx="266319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9141714" y="1728216"/>
            <a:ext cx="100584" cy="100584"/>
          </a:xfrm>
          <a:prstGeom prst="ellipse">
            <a:avLst/>
          </a:prstGeom>
          <a:solidFill>
            <a:srgbClr val="5C6B82"/>
          </a:solidFill>
          <a:ln/>
        </p:spPr>
      </p:sp>
      <p:sp>
        <p:nvSpPr>
          <p:cNvPr id="20" name="Text 17"/>
          <p:cNvSpPr/>
          <p:nvPr/>
        </p:nvSpPr>
        <p:spPr>
          <a:xfrm>
            <a:off x="9306306" y="1673352"/>
            <a:ext cx="220599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TIME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9269730" y="1938528"/>
            <a:ext cx="2279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5.77</a:t>
            </a:r>
            <a:pPr algn="l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548640" y="3144393"/>
            <a:ext cx="5436108" cy="2827782"/>
          </a:xfrm>
          <a:prstGeom prst="roundRect">
            <a:avLst>
              <a:gd name="adj" fmla="val 16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A1524">
                <a:alpha val="13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204204" y="3144393"/>
            <a:ext cx="5436108" cy="2827782"/>
          </a:xfrm>
          <a:prstGeom prst="roundRect">
            <a:avLst>
              <a:gd name="adj" fmla="val 16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A1524">
                <a:alpha val="13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VSM ENGINEERING</a:t>
            </a:r>
            <a:pPr indent="0" marL="0">
              <a:buNone/>
            </a:pPr>
            <a:r>
              <a:rPr lang="en-US" sz="850" spc="12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POST-PROCESSING TOOL  v1.3.0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/  10</a:t>
            </a:r>
            <a:endParaRPr lang="en-US" sz="850" dirty="0"/>
          </a:p>
        </p:txBody>
      </p:sp>
      <p:pic>
        <p:nvPicPr>
          <p:cNvPr id="28" name="Picture 27" descr="09_agrochemical_discharge_vs_dista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254121"/>
            <a:ext cx="5216652" cy="2608326"/>
          </a:xfrm>
          <a:prstGeom prst="rect">
            <a:avLst/>
          </a:prstGeom>
        </p:spPr>
      </p:pic>
      <p:pic>
        <p:nvPicPr>
          <p:cNvPr id="29" name="Picture 28" descr="12_agrochemical_discharge_and_charge_vs_tim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3932" y="3254121"/>
            <a:ext cx="5216652" cy="2608326"/>
          </a:xfrm>
          <a:prstGeom prst="rect">
            <a:avLst/>
          </a:prstGeom>
        </p:spPr>
      </p:pic>
      <p:pic>
        <p:nvPicPr>
          <p:cNvPr id="30" name="Picture 29" descr="astauto-light-text_web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09783" y="146304"/>
            <a:ext cx="1325880" cy="4291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2E56D0"/>
          </a:solidFill>
          <a:ln/>
          <a:effectLst>
            <a:outerShdw sx="100000" sy="100000" kx="0" ky="0" algn="bl" rotWithShape="0" blurRad="76200" dist="25400" dir="5400000">
              <a:srgbClr val="0A1524">
                <a:alpha val="25000"/>
              </a:srgbClr>
            </a:outerShdw>
          </a:effectLst>
        </p:spPr>
      </p:sp>
      <p:pic>
        <p:nvPicPr>
          <p:cNvPr id="3" name="Image 0" descr="assets/ic_gearbox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12648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Traction, EDU &amp; Auxiliary Energy Demand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344168" y="85953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Wheel, EDU, tyre and auxiliary demand from profile plots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1728216"/>
            <a:ext cx="100584" cy="100584"/>
          </a:xfrm>
          <a:prstGeom prst="ellipse">
            <a:avLst/>
          </a:prstGeom>
          <a:solidFill>
            <a:srgbClr val="2E56D0"/>
          </a:solidFill>
          <a:ln/>
        </p:spPr>
      </p:sp>
      <p:sp>
        <p:nvSpPr>
          <p:cNvPr id="8" name="Text 5"/>
          <p:cNvSpPr/>
          <p:nvPr/>
        </p:nvSpPr>
        <p:spPr>
          <a:xfrm>
            <a:off x="877824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MECH POWER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41248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25.34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2421636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86228" y="1728216"/>
            <a:ext cx="100584" cy="100584"/>
          </a:xfrm>
          <a:prstGeom prst="ellipse">
            <a:avLst/>
          </a:prstGeom>
          <a:solidFill>
            <a:srgbClr val="5C6B82"/>
          </a:solidFill>
          <a:ln/>
        </p:spPr>
      </p:sp>
      <p:sp>
        <p:nvSpPr>
          <p:cNvPr id="12" name="Text 9"/>
          <p:cNvSpPr/>
          <p:nvPr/>
        </p:nvSpPr>
        <p:spPr>
          <a:xfrm>
            <a:off x="2750820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 POWER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714244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4294632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59224" y="1728216"/>
            <a:ext cx="100584" cy="100584"/>
          </a:xfrm>
          <a:prstGeom prst="ellipse">
            <a:avLst/>
          </a:prstGeom>
          <a:solidFill>
            <a:srgbClr val="2E56D0"/>
          </a:solidFill>
          <a:ln/>
        </p:spPr>
      </p:sp>
      <p:sp>
        <p:nvSpPr>
          <p:cNvPr id="16" name="Text 13"/>
          <p:cNvSpPr/>
          <p:nvPr/>
        </p:nvSpPr>
        <p:spPr>
          <a:xfrm>
            <a:off x="4623816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SPEED RL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87240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rpm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6167628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332220" y="1728216"/>
            <a:ext cx="100584" cy="100584"/>
          </a:xfrm>
          <a:prstGeom prst="ellipse">
            <a:avLst/>
          </a:prstGeom>
          <a:solidFill>
            <a:srgbClr val="2E56D0"/>
          </a:solidFill>
          <a:ln/>
        </p:spPr>
      </p:sp>
      <p:sp>
        <p:nvSpPr>
          <p:cNvPr id="20" name="Text 17"/>
          <p:cNvSpPr/>
          <p:nvPr/>
        </p:nvSpPr>
        <p:spPr>
          <a:xfrm>
            <a:off x="6496812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TORQUE RL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460236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1,420.9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Nm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8040624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205216" y="1728216"/>
            <a:ext cx="100584" cy="100584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24" name="Text 21"/>
          <p:cNvSpPr/>
          <p:nvPr/>
        </p:nvSpPr>
        <p:spPr>
          <a:xfrm>
            <a:off x="8369808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 RR ENERGY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333232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1.24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kWh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9913620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0078212" y="1728216"/>
            <a:ext cx="100584" cy="100584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242804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ENERGY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0206228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1.04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kWh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548640" y="3144393"/>
            <a:ext cx="5436108" cy="2827782"/>
          </a:xfrm>
          <a:prstGeom prst="roundRect">
            <a:avLst>
              <a:gd name="adj" fmla="val 16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A1524">
                <a:alpha val="13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204204" y="3144393"/>
            <a:ext cx="5436108" cy="2827782"/>
          </a:xfrm>
          <a:prstGeom prst="roundRect">
            <a:avLst>
              <a:gd name="adj" fmla="val 16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A1524">
                <a:alpha val="13000"/>
              </a:srgbClr>
            </a:outerShdw>
          </a:effectLst>
        </p:spPr>
      </p:sp>
      <p:sp>
        <p:nvSpPr>
          <p:cNvPr id="34" name="Text 29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VSM ENGINEERING</a:t>
            </a:r>
            <a:pPr indent="0" marL="0">
              <a:buNone/>
            </a:pPr>
            <a:r>
              <a:rPr lang="en-US" sz="850" spc="12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POST-PROCESSING TOOL  v1.3.0</a:t>
            </a:r>
            <a:endParaRPr lang="en-US" sz="850" dirty="0"/>
          </a:p>
        </p:txBody>
      </p:sp>
      <p:sp>
        <p:nvSpPr>
          <p:cNvPr id="35" name="Text 30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/  10</a:t>
            </a:r>
            <a:endParaRPr lang="en-US" sz="850" dirty="0"/>
          </a:p>
        </p:txBody>
      </p:sp>
      <p:pic>
        <p:nvPicPr>
          <p:cNvPr id="36" name="Picture 35" descr="03_power_at_wheels_and_ed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254121"/>
            <a:ext cx="5216652" cy="2608326"/>
          </a:xfrm>
          <a:prstGeom prst="rect">
            <a:avLst/>
          </a:prstGeom>
        </p:spPr>
      </p:pic>
      <p:pic>
        <p:nvPicPr>
          <p:cNvPr id="37" name="Picture 36" descr="11_tyres_energy_consump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3932" y="3254121"/>
            <a:ext cx="5216652" cy="2608326"/>
          </a:xfrm>
          <a:prstGeom prst="rect">
            <a:avLst/>
          </a:prstGeom>
        </p:spPr>
      </p:pic>
      <p:pic>
        <p:nvPicPr>
          <p:cNvPr id="38" name="Picture 37" descr="astauto-light-text_web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09783" y="146304"/>
            <a:ext cx="1325880" cy="4291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2E56D0"/>
          </a:solidFill>
          <a:ln/>
          <a:effectLst>
            <a:outerShdw sx="100000" sy="100000" kx="0" ky="0" algn="bl" rotWithShape="0" blurRad="76200" dist="25400" dir="5400000">
              <a:srgbClr val="0A1524">
                <a:alpha val="25000"/>
              </a:srgbClr>
            </a:outerShdw>
          </a:effectLst>
        </p:spPr>
      </p:sp>
      <p:pic>
        <p:nvPicPr>
          <p:cNvPr id="3" name="Image 0" descr="assets/ic_summary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12648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Summary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344168" y="85953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profile result snapshot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B4CE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 km</a:t>
            </a:r>
            <a:pPr indent="0" marL="0">
              <a:buNone/>
            </a:pPr>
            <a:r>
              <a:rPr lang="en-US" sz="2300" dirty="0">
                <a:solidFill>
                  <a:srgbClr val="9DB4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covered   ·   SOC  </a:t>
            </a:r>
            <a:pPr indent="0" marL="0">
              <a:buNone/>
            </a:pPr>
            <a:r>
              <a:rPr lang="en-US" sz="2300" b="1" dirty="0">
                <a:solidFill>
                  <a:srgbClr val="7FA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72.45 %</a:t>
            </a:r>
            <a:pPr indent="0" marL="0">
              <a:buNone/>
            </a:pPr>
            <a:r>
              <a:rPr lang="en-US" sz="2300" dirty="0">
                <a:solidFill>
                  <a:srgbClr val="9DB4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consumption  </a:t>
            </a:r>
            <a:pPr indent="0" marL="0">
              <a:buNone/>
            </a:pPr>
            <a:r>
              <a:rPr lang="en-US" sz="2300" b="1" dirty="0">
                <a:solidFill>
                  <a:srgbClr val="F0B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3,778.1 Wh/km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A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SUMMARY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2487168"/>
            <a:ext cx="11064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run covered 1.00 km in 5.77 min.</a:t>
            </a:r>
            <a:endParaRPr lang="en-US" sz="125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battery SOC is 72.45 % from an 80.00 % initial state.</a:t>
            </a:r>
            <a:endParaRPr lang="en-US" sz="125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capacity used is 3.77 kWh; estimated range for 85% battery is 11.25 km.</a:t>
            </a:r>
            <a:endParaRPr lang="en-US" sz="125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deterministic simulation outputs; acceptance conclusions require explicit engineering criteria.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5029200"/>
            <a:ext cx="1726692" cy="1133856"/>
          </a:xfrm>
          <a:prstGeom prst="roundRect">
            <a:avLst>
              <a:gd name="adj" fmla="val 5645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5184648"/>
            <a:ext cx="100584" cy="100584"/>
          </a:xfrm>
          <a:prstGeom prst="ellipse">
            <a:avLst/>
          </a:prstGeom>
          <a:solidFill>
            <a:srgbClr val="9DB4D6"/>
          </a:solidFill>
          <a:ln/>
        </p:spPr>
      </p:sp>
      <p:sp>
        <p:nvSpPr>
          <p:cNvPr id="11" name="Text 8"/>
          <p:cNvSpPr/>
          <p:nvPr/>
        </p:nvSpPr>
        <p:spPr>
          <a:xfrm>
            <a:off x="877824" y="5129784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41248" y="5486400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pPr algn="l" indent="0" marL="0">
              <a:buNone/>
            </a:pPr>
            <a:r>
              <a:rPr lang="en-US" sz="95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km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2421636" y="5029200"/>
            <a:ext cx="1726692" cy="1133856"/>
          </a:xfrm>
          <a:prstGeom prst="roundRect">
            <a:avLst>
              <a:gd name="adj" fmla="val 5645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86228" y="5184648"/>
            <a:ext cx="100584" cy="100584"/>
          </a:xfrm>
          <a:prstGeom prst="ellipse">
            <a:avLst/>
          </a:prstGeom>
          <a:solidFill>
            <a:srgbClr val="9DB4D6"/>
          </a:solidFill>
          <a:ln/>
        </p:spPr>
      </p:sp>
      <p:sp>
        <p:nvSpPr>
          <p:cNvPr id="15" name="Text 12"/>
          <p:cNvSpPr/>
          <p:nvPr/>
        </p:nvSpPr>
        <p:spPr>
          <a:xfrm>
            <a:off x="2750820" y="5129784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TIME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714244" y="5486400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5.77</a:t>
            </a:r>
            <a:pPr algn="l" indent="0" marL="0">
              <a:buNone/>
            </a:pPr>
            <a:r>
              <a:rPr lang="en-US" sz="95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4294632" y="5029200"/>
            <a:ext cx="1726692" cy="1133856"/>
          </a:xfrm>
          <a:prstGeom prst="roundRect">
            <a:avLst>
              <a:gd name="adj" fmla="val 5645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59224" y="5184648"/>
            <a:ext cx="100584" cy="100584"/>
          </a:xfrm>
          <a:prstGeom prst="ellipse">
            <a:avLst/>
          </a:prstGeom>
          <a:solidFill>
            <a:srgbClr val="7FA6EF"/>
          </a:solidFill>
          <a:ln/>
        </p:spPr>
      </p:sp>
      <p:sp>
        <p:nvSpPr>
          <p:cNvPr id="19" name="Text 16"/>
          <p:cNvSpPr/>
          <p:nvPr/>
        </p:nvSpPr>
        <p:spPr>
          <a:xfrm>
            <a:off x="4623816" y="5129784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BATTERY SOC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587240" y="5486400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7FA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72.45</a:t>
            </a:r>
            <a:pPr algn="l" indent="0" marL="0">
              <a:buNone/>
            </a:pPr>
            <a:r>
              <a:rPr lang="en-US" sz="95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6167628" y="5029200"/>
            <a:ext cx="1726692" cy="1133856"/>
          </a:xfrm>
          <a:prstGeom prst="roundRect">
            <a:avLst>
              <a:gd name="adj" fmla="val 5645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32220" y="5184648"/>
            <a:ext cx="100584" cy="100584"/>
          </a:xfrm>
          <a:prstGeom prst="ellipse">
            <a:avLst/>
          </a:prstGeom>
          <a:solidFill>
            <a:srgbClr val="F0B25A"/>
          </a:solidFill>
          <a:ln/>
        </p:spPr>
      </p:sp>
      <p:sp>
        <p:nvSpPr>
          <p:cNvPr id="23" name="Text 20"/>
          <p:cNvSpPr/>
          <p:nvPr/>
        </p:nvSpPr>
        <p:spPr>
          <a:xfrm>
            <a:off x="6496812" y="5129784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CAPACITY USED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460236" y="5486400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0B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3.77</a:t>
            </a:r>
            <a:pPr algn="l" indent="0" marL="0">
              <a:buNone/>
            </a:pPr>
            <a:r>
              <a:rPr lang="en-US" sz="95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kWh</a:t>
            </a:r>
            <a:endParaRPr lang="en-US" sz="1900" dirty="0"/>
          </a:p>
        </p:txBody>
      </p:sp>
      <p:sp>
        <p:nvSpPr>
          <p:cNvPr id="25" name="Shape 22"/>
          <p:cNvSpPr/>
          <p:nvPr/>
        </p:nvSpPr>
        <p:spPr>
          <a:xfrm>
            <a:off x="8040624" y="5029200"/>
            <a:ext cx="1726692" cy="1133856"/>
          </a:xfrm>
          <a:prstGeom prst="roundRect">
            <a:avLst>
              <a:gd name="adj" fmla="val 5645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05216" y="5184648"/>
            <a:ext cx="100584" cy="100584"/>
          </a:xfrm>
          <a:prstGeom prst="ellipse">
            <a:avLst/>
          </a:prstGeom>
          <a:solidFill>
            <a:srgbClr val="F0B25A"/>
          </a:solidFill>
          <a:ln/>
        </p:spPr>
      </p:sp>
      <p:sp>
        <p:nvSpPr>
          <p:cNvPr id="27" name="Text 24"/>
          <p:cNvSpPr/>
          <p:nvPr/>
        </p:nvSpPr>
        <p:spPr>
          <a:xfrm>
            <a:off x="8369808" y="5129784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CONSUMPTION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8333232" y="5486400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0B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3,778.1</a:t>
            </a:r>
            <a:pPr algn="l" indent="0" marL="0">
              <a:buNone/>
            </a:pPr>
            <a:r>
              <a:rPr lang="en-US" sz="95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Wh/km</a:t>
            </a:r>
            <a:endParaRPr lang="en-US" sz="1900" dirty="0"/>
          </a:p>
        </p:txBody>
      </p:sp>
      <p:sp>
        <p:nvSpPr>
          <p:cNvPr id="29" name="Shape 26"/>
          <p:cNvSpPr/>
          <p:nvPr/>
        </p:nvSpPr>
        <p:spPr>
          <a:xfrm>
            <a:off x="9913620" y="5029200"/>
            <a:ext cx="1726692" cy="1133856"/>
          </a:xfrm>
          <a:prstGeom prst="roundRect">
            <a:avLst>
              <a:gd name="adj" fmla="val 5645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078212" y="5184648"/>
            <a:ext cx="100584" cy="100584"/>
          </a:xfrm>
          <a:prstGeom prst="ellipse">
            <a:avLst/>
          </a:prstGeom>
          <a:solidFill>
            <a:srgbClr val="F0B25A"/>
          </a:solidFill>
          <a:ln/>
        </p:spPr>
      </p:sp>
      <p:sp>
        <p:nvSpPr>
          <p:cNvPr id="31" name="Text 28"/>
          <p:cNvSpPr/>
          <p:nvPr/>
        </p:nvSpPr>
        <p:spPr>
          <a:xfrm>
            <a:off x="10242804" y="5129784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@ 85%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0206228" y="5486400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0B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11.25</a:t>
            </a:r>
            <a:pPr algn="l" indent="0" marL="0">
              <a:buNone/>
            </a:pPr>
            <a:r>
              <a:rPr lang="en-US" sz="95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km</a:t>
            </a:r>
            <a:endParaRPr lang="en-US" sz="1900" dirty="0"/>
          </a:p>
        </p:txBody>
      </p:sp>
      <p:sp>
        <p:nvSpPr>
          <p:cNvPr id="33" name="Text 3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VSM ENGINEERING</a:t>
            </a:r>
            <a:pPr indent="0" marL="0">
              <a:buNone/>
            </a:pPr>
            <a:r>
              <a:rPr lang="en-US" sz="850" spc="12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POST-PROCESSING TOOL  v1.3.0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10</a:t>
            </a:r>
            <a:endParaRPr lang="en-US" sz="850" dirty="0"/>
          </a:p>
        </p:txBody>
      </p:sp>
      <p:pic>
        <p:nvPicPr>
          <p:cNvPr id="35" name="Picture 34" descr="astauto-light-text_we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9783" y="146304"/>
            <a:ext cx="1325880" cy="4291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RoboSprayer Electric</dc:title>
  <dc:subject>RoboSprayer Electric deterministic profile engineering report</dc:subject>
  <dc:creator>VSM Engineering</dc:creator>
  <cp:lastModifiedBy>PptxGenJS</cp:lastModifiedBy>
  <cp:revision>1</cp:revision>
  <dcterms:created xsi:type="dcterms:W3CDTF">2026-08-16T11:37:24Z</dcterms:created>
  <dcterms:modified xsi:type="dcterms:W3CDTF">2026-08-16T11:37:25Z</dcterms:modified>
  <cp:keywords>VSM, profile-driven, engineering report</cp:keywords>
  <dc:description>Generated from deterministic profile outputs by v1.3.0.</dc:description>
</cp:coreProperties>
</file>