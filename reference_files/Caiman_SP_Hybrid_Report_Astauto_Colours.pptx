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Relationship Id="rId7" Type="http://schemas.openxmlformats.org/officeDocument/2006/relationships/image" Target="../media/image1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Relationship Id="rId9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Relationship Id="rId9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Relationship Id="rId8" Type="http://schemas.openxmlformats.org/officeDocument/2006/relationships/image" Target="../media/image1.png"/><Relationship Id="rId9" Type="http://schemas.openxmlformats.org/officeDocument/2006/relationships/image" Target="../media/image12.png"/><Relationship Id="rId10" Type="http://schemas.openxmlformats.org/officeDocument/2006/relationships/image" Target="../media/image1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4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Relationship Id="rId10" Type="http://schemas.openxmlformats.org/officeDocument/2006/relationships/image" Target="../media/image2.png"/><Relationship Id="rId11" Type="http://schemas.openxmlformats.org/officeDocument/2006/relationships/image" Target="../media/image3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Relationship Id="rId9" Type="http://schemas.openxmlformats.org/officeDocument/2006/relationships/image" Target="../media/image4.png"/><Relationship Id="rId10" Type="http://schemas.openxmlformats.org/officeDocument/2006/relationships/image" Target="../media/image5.png"/><Relationship Id="rId11" Type="http://schemas.openxmlformats.org/officeDocument/2006/relationships/image" Target="../media/image15.png"/><Relationship Id="rId12" Type="http://schemas.openxmlformats.org/officeDocument/2006/relationships/image" Target="../media/image16.png"/><Relationship Id="rId1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17.png"/><Relationship Id="rId14" Type="http://schemas.openxmlformats.org/officeDocument/2006/relationships/image" Target="../media/image18.png"/><Relationship Id="rId15" Type="http://schemas.openxmlformats.org/officeDocument/2006/relationships/image" Target="../media/image1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3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1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3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Relationship Id="rId11" Type="http://schemas.openxmlformats.org/officeDocument/2006/relationships/image" Target="../media/image10.png"/><Relationship Id="rId12" Type="http://schemas.openxmlformats.org/officeDocument/2006/relationships/image" Target="../media/image9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Relationship Id="rId9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6D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686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  ·   FEASIBILITY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298448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Caiman SP Hybrid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85800" y="23957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- Feasibility Study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3035808"/>
            <a:ext cx="1475842" cy="420624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035808"/>
            <a:ext cx="14758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Caiman SP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62810" y="3035808"/>
            <a:ext cx="1475842" cy="420624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2810" y="3035808"/>
            <a:ext cx="147584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Powertrain Hybrid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39819" y="3035808"/>
            <a:ext cx="2371954" cy="420624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39819" y="3035808"/>
            <a:ext cx="237195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Profile source dataset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2941" y="3035808"/>
            <a:ext cx="2640787" cy="420624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2941" y="3035808"/>
            <a:ext cx="2640787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1,770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454896" y="3035808"/>
            <a:ext cx="2551176" cy="420624"/>
          </a:xfrm>
          <a:prstGeom prst="roundRect">
            <a:avLst>
              <a:gd name="adj" fmla="val 50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54896" y="3035808"/>
            <a:ext cx="25511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v1.3.0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16052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949" y="4282501"/>
            <a:ext cx="176662" cy="1766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41732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90525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1" name="Shape 18"/>
          <p:cNvSpPr/>
          <p:nvPr/>
        </p:nvSpPr>
        <p:spPr>
          <a:xfrm>
            <a:off x="352044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21608" y="416052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23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589" y="4282501"/>
            <a:ext cx="176662" cy="17666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25196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373989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29.48 min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6" name="Shape 22"/>
          <p:cNvSpPr/>
          <p:nvPr/>
        </p:nvSpPr>
        <p:spPr>
          <a:xfrm>
            <a:off x="635508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6248" y="4160520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8" name="Image 2" descr="icons/dropl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229" y="4282501"/>
            <a:ext cx="176662" cy="17666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08660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657453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46.20 %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1" name="Shape 26"/>
          <p:cNvSpPr/>
          <p:nvPr/>
        </p:nvSpPr>
        <p:spPr>
          <a:xfrm>
            <a:off x="9189720" y="3977640"/>
            <a:ext cx="2615184" cy="1371600"/>
          </a:xfrm>
          <a:prstGeom prst="roundRect">
            <a:avLst>
              <a:gd name="adj" fmla="val 6000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390888" y="416052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33" name="Image 3" descr="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869" y="4282501"/>
            <a:ext cx="176662" cy="17666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921240" y="4160520"/>
            <a:ext cx="1737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9409176" y="463600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 kg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6" name="Text 30"/>
          <p:cNvSpPr/>
          <p:nvPr/>
        </p:nvSpPr>
        <p:spPr>
          <a:xfrm>
            <a:off x="6858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0058400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1100" dirty="0"/>
          </a:p>
        </p:txBody>
      </p:sp>
      <p:pic>
        <p:nvPicPr>
          <p:cNvPr id="38" name="Picture 37" descr="astauto-light-text_web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and Simulation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profile resolution and deterministic simulation scope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471270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4712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 1,770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202790" y="1417320"/>
            <a:ext cx="1471270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02790" y="1417320"/>
            <a:ext cx="147127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12.00 km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56939" y="1417320"/>
            <a:ext cx="2576779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56939" y="1417320"/>
            <a:ext cx="2576779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 29.48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6598" y="1417320"/>
            <a:ext cx="2066544" cy="402336"/>
          </a:xfrm>
          <a:prstGeom prst="roundRect">
            <a:avLst>
              <a:gd name="adj" fmla="val 50000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6598" y="1417320"/>
            <a:ext cx="20665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E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profile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057400"/>
            <a:ext cx="5358384" cy="2697480"/>
          </a:xfrm>
          <a:prstGeom prst="roundRect">
            <a:avLst>
              <a:gd name="adj" fmla="val 2373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313432"/>
            <a:ext cx="457200" cy="457200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6" name="Image 0" descr="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446020"/>
            <a:ext cx="192024" cy="19202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17320" y="23134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Structure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59536" y="2898648"/>
            <a:ext cx="477316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dataset: Profile source dataset
Imported samples: 1,770
Mission duration: 29.48 min
Mission distance: 12.00 km
Maximum speed: 33.78 kph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91072" y="2057400"/>
            <a:ext cx="5358384" cy="2697480"/>
          </a:xfrm>
          <a:prstGeom prst="roundRect">
            <a:avLst>
              <a:gd name="adj" fmla="val 2373"/>
            </a:avLst>
          </a:prstGeom>
          <a:solidFill>
            <a:srgbClr val="F4F7FA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565392" y="2313432"/>
            <a:ext cx="457200" cy="457200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21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446020"/>
            <a:ext cx="192024" cy="1920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59752" y="2313432"/>
            <a:ext cx="4352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System Context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601968" y="2898648"/>
            <a:ext cx="477316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SOC: 57.40 % to 46.20 %
Fuel consumption: 3.63 kg
Maximum generator power: 80.00 kW
Range-extender activity is reported directly from resolved simulation channels.
Inactive channels remain visible as zero deterministic outputs.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48640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749808" y="5138928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26" name="Image 2" descr="icons/c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789" y="5260909"/>
            <a:ext cx="176662" cy="1766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280160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768096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29.48 min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9" name="Shape 24"/>
          <p:cNvSpPr/>
          <p:nvPr/>
        </p:nvSpPr>
        <p:spPr>
          <a:xfrm>
            <a:off x="3407969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609137" y="5138928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31" name="Image 3" descr="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1118" y="5260909"/>
            <a:ext cx="176662" cy="17666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139489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627425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34" name="Shape 28"/>
          <p:cNvSpPr/>
          <p:nvPr/>
        </p:nvSpPr>
        <p:spPr>
          <a:xfrm>
            <a:off x="6267298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468466" y="5138928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36" name="Image 4" descr="icons/activit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447" y="5260909"/>
            <a:ext cx="176662" cy="176662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998818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SPEED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6486754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33.78 kph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39" name="Shape 32"/>
          <p:cNvSpPr/>
          <p:nvPr/>
        </p:nvSpPr>
        <p:spPr>
          <a:xfrm>
            <a:off x="9126626" y="4956048"/>
            <a:ext cx="2688336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9327794" y="5138928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41" name="Image 5" descr="icons/z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9775" y="5260909"/>
            <a:ext cx="176662" cy="176662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9858146" y="513892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GEN POWER</a:t>
            </a:r>
            <a:endParaRPr lang="en-US" sz="950" dirty="0"/>
          </a:p>
        </p:txBody>
      </p:sp>
      <p:sp>
        <p:nvSpPr>
          <p:cNvPr id="43" name="Text 35"/>
          <p:cNvSpPr/>
          <p:nvPr/>
        </p:nvSpPr>
        <p:spPr>
          <a:xfrm>
            <a:off x="9346082" y="5614416"/>
            <a:ext cx="23591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 kW</a:t>
            </a:r>
            <a:pPr algn="l" indent="0" marL="0">
              <a:buNone/>
            </a:pPr>
            <a:endParaRPr lang="en-US" sz="2400" dirty="0"/>
          </a:p>
        </p:txBody>
      </p:sp>
      <p:pic>
        <p:nvPicPr>
          <p:cNvPr id="44" name="Picture 43" descr="astauto-light-text_we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KPIs from the validated profile pipeline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92024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8" name="Image 0" descr="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2042221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3957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29.48 min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4398264" y="17373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92024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3" name="Image 1" descr="icons/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413" y="2042221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9784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617720" y="23957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6" name="Shape 12"/>
          <p:cNvSpPr/>
          <p:nvPr/>
        </p:nvSpPr>
        <p:spPr>
          <a:xfrm>
            <a:off x="8247888" y="17373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192024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037" y="2042221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79408" y="19202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SPEED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8467344" y="23957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33.78 kph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1" name="Shape 16"/>
          <p:cNvSpPr/>
          <p:nvPr/>
        </p:nvSpPr>
        <p:spPr>
          <a:xfrm>
            <a:off x="548640" y="35661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374904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23" name="Image 3" descr="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89" y="3871021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37490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BATTERY SOC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68096" y="42245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57.40 %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6" name="Shape 20"/>
          <p:cNvSpPr/>
          <p:nvPr/>
        </p:nvSpPr>
        <p:spPr>
          <a:xfrm>
            <a:off x="4398264" y="35661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99432" y="3749040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8" name="Image 4" descr="icons/batter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413" y="3871021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9784" y="37490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617720" y="42245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46.20 %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1" name="Shape 24"/>
          <p:cNvSpPr/>
          <p:nvPr/>
        </p:nvSpPr>
        <p:spPr>
          <a:xfrm>
            <a:off x="8247888" y="3566160"/>
            <a:ext cx="35661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449056" y="374904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33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037" y="3871021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979408" y="37490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CAPACITY USED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8467344" y="4224528"/>
            <a:ext cx="3236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11.20 kWh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6" name="Text 28"/>
          <p:cNvSpPr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Calculations are sourced from the profile statistics and KPI results.</a:t>
            </a:r>
            <a:endParaRPr lang="en-US" sz="1100" dirty="0"/>
          </a:p>
        </p:txBody>
      </p:sp>
      <p:pic>
        <p:nvPicPr>
          <p:cNvPr id="37" name="Picture 36" descr="astauto-light-text_we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Operation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trace from the validated profile plot output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64208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8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86189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407969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09137" y="1664208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3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118" y="1786189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39489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27425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29.48 min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267298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68466" y="1664208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2" descr="icons/activ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447" y="1786189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98818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SPEED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86754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33.78 kph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9126626" y="1481328"/>
            <a:ext cx="268833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27794" y="1664208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3" name="Image 3" descr="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9775" y="1786189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858146" y="1664208"/>
            <a:ext cx="18105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9346082" y="213969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46.20 %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2998347" y="2761488"/>
            <a:ext cx="6192258" cy="3456432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27" name="Picture 26" descr="02_speed_vs_distanc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26363" y="2889504"/>
            <a:ext cx="5936226" cy="3200400"/>
          </a:xfrm>
          <a:prstGeom prst="rect">
            <a:avLst/>
          </a:prstGeom>
        </p:spPr>
      </p:pic>
      <p:pic>
        <p:nvPicPr>
          <p:cNvPr id="28" name="Picture 27" descr="astauto-light-text_web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and Electrical Energy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of charge, stored energy and battery demand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8" name="Image 0" descr="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BATTERY SOC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57.40 %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2803550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04718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3" name="Image 1" descr="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699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35070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023006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46.20 %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5058461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259629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10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789981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BATT POWER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277917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149.96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7313371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514539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3" name="Image 3" descr="icons/ther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6520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044891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 POWER RMS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7532827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55.19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6" name="Shape 20"/>
          <p:cNvSpPr/>
          <p:nvPr/>
        </p:nvSpPr>
        <p:spPr>
          <a:xfrm>
            <a:off x="9568282" y="1444752"/>
            <a:ext cx="207203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769450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8" name="Image 4" descr="icons/thermo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1431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299802" y="1627632"/>
            <a:ext cx="119420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HEATFLOW RMS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9787738" y="2103120"/>
            <a:ext cx="17428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5.36 kW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31" name="Shape 24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39" name="Picture 38" descr="08_battery_soc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40" name="Picture 39" descr="10_battery_energy_time_bas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  <p:pic>
        <p:nvPicPr>
          <p:cNvPr id="41" name="Picture 40" descr="astauto-light-text_web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Power and Energy Recovery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Charge/discharge behavior and released/recuperated energy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8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 POWER RMS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55.19 kW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3367278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8446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3" name="Image 1" descr="icons/tr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0427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98798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RELEASED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86734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15.23 kWh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6185916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87084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2" descr="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9065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17436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RECOVERED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05372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 kWh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9004554" y="1444752"/>
            <a:ext cx="2635758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05722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23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7703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736074" y="1627632"/>
            <a:ext cx="175793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ENERGY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9224010" y="2103120"/>
            <a:ext cx="2306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 kWh</a:t>
            </a:r>
            <a:pPr algn="l" indent="0" marL="0">
              <a:buNone/>
            </a:pPr>
            <a:endParaRPr lang="en-US" sz="2400" dirty="0"/>
          </a:p>
        </p:txBody>
      </p:sp>
      <p:sp>
        <p:nvSpPr>
          <p:cNvPr id="26" name="Shape 20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34" name="Picture 33" descr="04_battery_power_charge_dischar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35" name="Picture 34" descr="06_energy_releas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  <p:pic>
        <p:nvPicPr>
          <p:cNvPr id="36" name="Picture 35" descr="astauto-light-text_web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Extender and Generator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demand, fuel consumption and generator behavior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8" name="Image 0" descr="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GEN POWER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27732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8900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3" name="Image 1" descr="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881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9252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ENG POWER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647188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86.63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06824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07992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18" name="Image 2" descr="icons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73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8344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ENG SPEED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26280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1,700 rpm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185916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7084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23" name="Image 3" descr="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65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7436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ENG TORQUE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05372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578.06 Nm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8065008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66176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8" name="Image 4" descr="icons/dropl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157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96528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284464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 kg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994410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145268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33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249" y="1749613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67562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ENERGY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16355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19.90 kWh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44" name="TextBox 43"/>
          <p:cNvSpPr txBox="1"/>
          <p:nvPr/>
        </p:nvSpPr>
        <p:spPr>
          <a:xfrm>
            <a:off x="777240" y="5961888"/>
            <a:ext cx="10789920" cy="32918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6B7C88"/>
                </a:solidFill>
                <a:latin typeface="Arial"/>
              </a:defRPr>
            </a:pPr>
            <a:r>
              <a:t>The range extender becomes active at approximately 15 min, with generator power reaching 80 kW.</a:t>
            </a:r>
            <a:br/>
          </a:p>
        </p:txBody>
      </p:sp>
      <p:pic>
        <p:nvPicPr>
          <p:cNvPr id="45" name="Picture 44" descr="14_generator_pow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46" name="Picture 45" descr="18_engine_power_and_fuel_vs_tim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  <p:pic>
        <p:nvPicPr>
          <p:cNvPr id="47" name="Picture 46" descr="astauto-light-text_web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Agrochemical and Battery Behaviour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Profile-supported system interaction from the active source data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2444995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8" name="Image 0" descr="icons/batt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156717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 DISCHARGE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21158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3,998.7 kg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430866" y="1444752"/>
            <a:ext cx="2444995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2034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3" name="Image 1" descr="icons/batte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015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2386" y="1627632"/>
            <a:ext cx="156717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650322" y="2103120"/>
            <a:ext cx="21158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46.20 %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6313091" y="1444752"/>
            <a:ext cx="2444995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514259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8" name="Image 2" descr="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240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44611" y="1627632"/>
            <a:ext cx="156717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532547" y="2103120"/>
            <a:ext cx="21158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 kg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21" name="Shape 16"/>
          <p:cNvSpPr/>
          <p:nvPr/>
        </p:nvSpPr>
        <p:spPr>
          <a:xfrm>
            <a:off x="9195317" y="1444752"/>
            <a:ext cx="2444995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396485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3" name="Image 3" descr="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466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926837" y="1627632"/>
            <a:ext cx="1567171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9414773" y="2103120"/>
            <a:ext cx="21158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29.48 min</a:t>
            </a:r>
            <a:pPr algn="l" indent="0" marL="0">
              <a:buNone/>
            </a:pPr>
            <a:endParaRPr lang="en-US" sz="2100" dirty="0"/>
          </a:p>
        </p:txBody>
      </p:sp>
      <p:sp>
        <p:nvSpPr>
          <p:cNvPr id="31" name="Shape 24"/>
          <p:cNvSpPr/>
          <p:nvPr/>
        </p:nvSpPr>
        <p:spPr>
          <a:xfrm>
            <a:off x="548640" y="27432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199632" y="274320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7" name="Text 28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Agrochemical discharge is shown only when active in the deterministic hybrid profile data.</a:t>
            </a:r>
            <a:endParaRPr lang="en-US" sz="1100" dirty="0"/>
          </a:p>
        </p:txBody>
      </p:sp>
      <p:pic>
        <p:nvPicPr>
          <p:cNvPr id="40" name="Picture 39" descr="09_agrochemical_discharge_vs_distanc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" y="2945799"/>
            <a:ext cx="5184648" cy="2795202"/>
          </a:xfrm>
          <a:prstGeom prst="rect">
            <a:avLst/>
          </a:prstGeom>
        </p:spPr>
      </p:pic>
      <p:pic>
        <p:nvPicPr>
          <p:cNvPr id="41" name="Picture 40" descr="15_battery_energy_and_fuel_vs_tim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27648" y="2945799"/>
            <a:ext cx="5184648" cy="2795202"/>
          </a:xfrm>
          <a:prstGeom prst="rect">
            <a:avLst/>
          </a:prstGeom>
        </p:spPr>
      </p:pic>
      <p:pic>
        <p:nvPicPr>
          <p:cNvPr id="42" name="Picture 41" descr="astauto-light-text_web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Traction, EDU and Auxiliary Energy Demand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Wheel, EDU, tyre and auxiliary demand from profile plots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9808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8" name="Image 0" descr="icons/dis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1749613"/>
            <a:ext cx="176662" cy="1766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MECH POWER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6809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111.07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2427732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28900" y="1627632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3" name="Image 1" descr="icons/dis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0881" y="1749613"/>
            <a:ext cx="176662" cy="1766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159252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 POWER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2647188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106.80 kW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306824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07992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18" name="Image 2" descr="icons/refres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973" y="1749613"/>
            <a:ext cx="176662" cy="1766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38344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SPEED RL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526280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22,750 rpm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185916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387084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23" name="Image 3" descr="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9065" y="1749613"/>
            <a:ext cx="176662" cy="17666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17436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TORQUE RL</a:t>
            </a:r>
            <a:endParaRPr lang="en-US" sz="950" dirty="0"/>
          </a:p>
        </p:txBody>
      </p:sp>
      <p:sp>
        <p:nvSpPr>
          <p:cNvPr id="25" name="Text 19"/>
          <p:cNvSpPr/>
          <p:nvPr/>
        </p:nvSpPr>
        <p:spPr>
          <a:xfrm>
            <a:off x="6405372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892.45 Nm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26" name="Shape 20"/>
          <p:cNvSpPr/>
          <p:nvPr/>
        </p:nvSpPr>
        <p:spPr>
          <a:xfrm>
            <a:off x="8065008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266176" y="1627632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8" name="Image 4" descr="icons/refres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8157" y="1749613"/>
            <a:ext cx="176662" cy="17666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796528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TYRE RR ENERGY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8284464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8.25 kWh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1" name="Shape 24"/>
          <p:cNvSpPr/>
          <p:nvPr/>
        </p:nvSpPr>
        <p:spPr>
          <a:xfrm>
            <a:off x="9944100" y="1444752"/>
            <a:ext cx="169621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145268" y="1627632"/>
            <a:ext cx="420624" cy="420624"/>
          </a:xfrm>
          <a:prstGeom prst="ellipse">
            <a:avLst/>
          </a:prstGeom>
          <a:solidFill>
            <a:srgbClr val="1E2E7C"/>
          </a:solidFill>
          <a:ln/>
        </p:spPr>
      </p:sp>
      <p:pic>
        <p:nvPicPr>
          <p:cNvPr id="33" name="Image 5" descr="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249" y="1749613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675620" y="1627632"/>
            <a:ext cx="950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0" kern="0" dirty="0">
                <a:solidFill>
                  <a:srgbClr val="6B7C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AUX ENERGY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0163556" y="2103120"/>
            <a:ext cx="13670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1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 kWh</a:t>
            </a:r>
            <a:pPr algn="l" indent="0" marL="0">
              <a:buNone/>
            </a:pPr>
            <a:endParaRPr lang="en-US" sz="2000" dirty="0"/>
          </a:p>
        </p:txBody>
      </p:sp>
      <p:sp>
        <p:nvSpPr>
          <p:cNvPr id="36" name="Shape 28"/>
          <p:cNvSpPr/>
          <p:nvPr/>
        </p:nvSpPr>
        <p:spPr>
          <a:xfrm>
            <a:off x="548640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6199632" y="2743200"/>
            <a:ext cx="544068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4EAF0"/>
            </a:solidFill>
            <a:prstDash val="solid"/>
          </a:ln>
          <a:effectLst>
            <a:outerShdw sx="100000" sy="100000" kx="0" ky="0" algn="bl" rotWithShape="0" blurRad="114300" dist="38100" dir="5400000">
              <a:srgbClr val="8FA3B3">
                <a:alpha val="28000"/>
              </a:srgbClr>
            </a:outerShdw>
          </a:effectLst>
        </p:spPr>
      </p:sp>
      <p:pic>
        <p:nvPicPr>
          <p:cNvPr id="44" name="Picture 43" descr="03_power_at_wheels_and_edu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6656" y="3060099"/>
            <a:ext cx="5184648" cy="2795202"/>
          </a:xfrm>
          <a:prstGeom prst="rect">
            <a:avLst/>
          </a:prstGeom>
        </p:spPr>
      </p:pic>
      <p:pic>
        <p:nvPicPr>
          <p:cNvPr id="45" name="Picture 44" descr="11_tyres_energy_consump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7648" y="3060099"/>
            <a:ext cx="5184648" cy="2795202"/>
          </a:xfrm>
          <a:prstGeom prst="rect">
            <a:avLst/>
          </a:prstGeom>
        </p:spPr>
      </p:pic>
      <p:pic>
        <p:nvPicPr>
          <p:cNvPr id="46" name="Picture 45" descr="astauto-light-text_web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E56D0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50292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Summary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76656" y="1133856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56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profile result snapshot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96596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7" name="Image 0" descr="icons/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789" y="2087941"/>
            <a:ext cx="176662" cy="1766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9659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8096" y="244144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12.00 km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4398264" y="17830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99432" y="196596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12" name="Image 1" descr="icons/c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413" y="2087941"/>
            <a:ext cx="176662" cy="1766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29784" y="19659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TIME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617720" y="244144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29.48 min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8247888" y="178308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49056" y="1965960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17" name="Image 2" descr="icons/batte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037" y="2087941"/>
            <a:ext cx="176662" cy="17666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9408" y="196596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BATTERY SOC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467344" y="244144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46.20 %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0" name="Shape 15"/>
          <p:cNvSpPr/>
          <p:nvPr/>
        </p:nvSpPr>
        <p:spPr>
          <a:xfrm>
            <a:off x="548640" y="333756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3520440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2" name="Image 3" descr="icons/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89" y="3642421"/>
            <a:ext cx="176662" cy="17666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5204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CONSUMPTION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768096" y="399592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 kg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25" name="Shape 19"/>
          <p:cNvSpPr/>
          <p:nvPr/>
        </p:nvSpPr>
        <p:spPr>
          <a:xfrm>
            <a:off x="4398264" y="333756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599432" y="3520440"/>
            <a:ext cx="420624" cy="420624"/>
          </a:xfrm>
          <a:prstGeom prst="ellipse">
            <a:avLst/>
          </a:prstGeom>
          <a:solidFill>
            <a:srgbClr val="D98A2B"/>
          </a:solidFill>
          <a:ln/>
        </p:spPr>
      </p:sp>
      <p:pic>
        <p:nvPicPr>
          <p:cNvPr id="27" name="Image 4" descr="icons/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413" y="3642421"/>
            <a:ext cx="176662" cy="17666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9784" y="35204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GEN POWER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617720" y="399592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80.00 kW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0" name="Shape 23"/>
          <p:cNvSpPr/>
          <p:nvPr/>
        </p:nvSpPr>
        <p:spPr>
          <a:xfrm>
            <a:off x="8247888" y="3337560"/>
            <a:ext cx="3566160" cy="1298448"/>
          </a:xfrm>
          <a:prstGeom prst="roundRect">
            <a:avLst>
              <a:gd name="adj" fmla="val 6338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8449056" y="3520440"/>
            <a:ext cx="420624" cy="420624"/>
          </a:xfrm>
          <a:prstGeom prst="ellipse">
            <a:avLst/>
          </a:prstGeom>
          <a:solidFill>
            <a:srgbClr val="2E56D0"/>
          </a:solidFill>
          <a:ln/>
        </p:spPr>
      </p:sp>
      <p:pic>
        <p:nvPicPr>
          <p:cNvPr id="32" name="Image 5" descr="icons/tren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1037" y="3642421"/>
            <a:ext cx="176662" cy="17666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79408" y="3520440"/>
            <a:ext cx="268833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ENERGY</a:t>
            </a:r>
            <a:endParaRPr lang="en-US" sz="950" dirty="0"/>
          </a:p>
        </p:txBody>
      </p:sp>
      <p:sp>
        <p:nvSpPr>
          <p:cNvPr id="34" name="Text 26"/>
          <p:cNvSpPr/>
          <p:nvPr/>
        </p:nvSpPr>
        <p:spPr>
          <a:xfrm>
            <a:off x="8467344" y="3995928"/>
            <a:ext cx="32369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19.90 kWh</a:t>
            </a:r>
            <a:pPr algn="l" indent="0" marL="0">
              <a:buNone/>
            </a:pPr>
            <a:endParaRPr lang="en-US" sz="2700" dirty="0"/>
          </a:p>
        </p:txBody>
      </p:sp>
      <p:sp>
        <p:nvSpPr>
          <p:cNvPr id="35" name="Shape 27"/>
          <p:cNvSpPr/>
          <p:nvPr/>
        </p:nvSpPr>
        <p:spPr>
          <a:xfrm>
            <a:off x="548640" y="5029200"/>
            <a:ext cx="11091672" cy="1170432"/>
          </a:xfrm>
          <a:prstGeom prst="roundRect">
            <a:avLst>
              <a:gd name="adj" fmla="val 5469"/>
            </a:avLst>
          </a:prstGeom>
          <a:solidFill>
            <a:srgbClr val="17246E"/>
          </a:solidFill>
          <a:ln w="9525">
            <a:solidFill>
              <a:srgbClr val="3446A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822960" y="5029200"/>
            <a:ext cx="105156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B4C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run covered 12.00 km in 29.48 min.
Final battery SOC is 46.20 %.
Fuel consumption is 3.63 kg; maximum generator power is 80.00 kW.
Results are deterministic simulation outputs; acceptance conclusions require explicit engineering criteria.</a:t>
            </a:r>
            <a:endParaRPr lang="en-US" sz="1250" dirty="0"/>
          </a:p>
        </p:txBody>
      </p:sp>
      <p:sp>
        <p:nvSpPr>
          <p:cNvPr id="37" name="Text 29"/>
          <p:cNvSpPr/>
          <p:nvPr/>
        </p:nvSpPr>
        <p:spPr>
          <a:xfrm>
            <a:off x="548640" y="64556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VSM Engineering Post-Processing Tool  ·  v1.3.0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10058400" y="6455664"/>
            <a:ext cx="1584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A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pic>
        <p:nvPicPr>
          <p:cNvPr id="39" name="Picture 38" descr="astauto-light-text_we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09783" y="146304"/>
            <a:ext cx="1325880" cy="429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Caiman SP Hybrid</dc:title>
  <dc:subject>Caiman SP Hybrid deterministic profile engineering report</dc:subject>
  <dc:creator>VSM Engineering</dc:creator>
  <cp:lastModifiedBy>PptxGenJS</cp:lastModifiedBy>
  <cp:revision>1</cp:revision>
  <dcterms:created xsi:type="dcterms:W3CDTF">2026-08-14T14:02:45Z</dcterms:created>
  <dcterms:modified xsi:type="dcterms:W3CDTF">2026-08-14T14:02:45Z</dcterms:modified>
  <cp:keywords>VSM, profile-driven, engineering report</cp:keywords>
  <dc:description>Generated from deterministic profile outputs by v1.3.0.</dc:description>
</cp:coreProperties>
</file>