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7"/>
    <p:sldId id="267" r:id="rId18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Relationship Id="rId5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Relationship Id="rId6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Relationship Id="rId5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Relationship Id="rId5" Type="http://schemas.openxmlformats.org/officeDocument/2006/relationships/image" Target="../media/image2.png"/><Relationship Id="rId6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Relationship Id="rId5" Type="http://schemas.openxmlformats.org/officeDocument/2006/relationships/image" Target="../media/image1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p-road-icon.png"/><Relationship Id="rId2" Type="http://schemas.openxmlformats.org/officeDocument/2006/relationships/image" Target="../media/sp-road-chart.png"/><Relationship Id="rId3" Type="http://schemas.openxmlformats.org/officeDocument/2006/relationships/image" Target="../media/sp-logo.jpg"/><Relationship Id="rId4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p-steer-icon.png"/><Relationship Id="rId2" Type="http://schemas.openxmlformats.org/officeDocument/2006/relationships/image" Target="../media/sp-steer-chart.png"/><Relationship Id="rId3" Type="http://schemas.openxmlformats.org/officeDocument/2006/relationships/image" Target="../media/sp-logo.jpg"/><Relationship Id="rId4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457200" cy="457200"/>
          </a:xfrm>
          <a:prstGeom prst="ellipse">
            <a:avLst/>
          </a:prstGeom>
          <a:solidFill>
            <a:srgbClr val="2E56D0"/>
          </a:solidFill>
          <a:ln/>
          <a:effectLst>
            <a:outerShdw sx="100000" sy="100000" kx="0" ky="0" algn="bl" rotWithShape="0" blurRad="76200" dist="25400" dir="5400000">
              <a:srgbClr val="0A1524">
                <a:alpha val="30000"/>
              </a:srgbClr>
            </a:outerShdw>
          </a:effectLst>
        </p:spPr>
        <p:txBody>
          <a:bodyPr/>
          <a:p/>
        </p:txBody>
      </p:sp>
      <p:pic>
        <p:nvPicPr>
          <p:cNvPr id="3" name="Image 0" descr="assets/ic_tractor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658368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5486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7FA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VSM ENGINEERING   ·   FEASIBILITY STUDY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117043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RoboSprayer Electric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566928" y="2048256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feasibility study on a validated 347-sample electric field profile.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743200"/>
            <a:ext cx="1221638" cy="402336"/>
          </a:xfrm>
          <a:prstGeom prst="roundRect">
            <a:avLst>
              <a:gd name="adj" fmla="val 50000"/>
            </a:avLst>
          </a:prstGeom>
          <a:solidFill>
            <a:srgbClr val="17246E"/>
          </a:solidFill>
          <a:ln w="12700">
            <a:solidFill>
              <a:srgbClr val="3446A0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548640" y="2743200"/>
            <a:ext cx="122163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4C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GVW 3,500 kg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1934870" y="2743200"/>
            <a:ext cx="1752905" cy="402336"/>
          </a:xfrm>
          <a:prstGeom prst="roundRect">
            <a:avLst>
              <a:gd name="adj" fmla="val 50000"/>
            </a:avLst>
          </a:prstGeom>
          <a:solidFill>
            <a:srgbClr val="17246E"/>
          </a:solidFill>
          <a:ln w="12700">
            <a:solidFill>
              <a:srgbClr val="3446A0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934870" y="2743200"/>
            <a:ext cx="1752905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4C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powertrain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852367" y="2743200"/>
            <a:ext cx="1221638" cy="402336"/>
          </a:xfrm>
          <a:prstGeom prst="roundRect">
            <a:avLst>
              <a:gd name="adj" fmla="val 50000"/>
            </a:avLst>
          </a:prstGeom>
          <a:solidFill>
            <a:srgbClr val="17246E"/>
          </a:solidFill>
          <a:ln w="12700">
            <a:solidFill>
              <a:srgbClr val="3446A0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3852367" y="2743200"/>
            <a:ext cx="122163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4C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kph field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238598" y="2743200"/>
            <a:ext cx="1297534" cy="402336"/>
          </a:xfrm>
          <a:prstGeom prst="roundRect">
            <a:avLst>
              <a:gd name="adj" fmla="val 50000"/>
            </a:avLst>
          </a:prstGeom>
          <a:solidFill>
            <a:srgbClr val="17246E"/>
          </a:solidFill>
          <a:ln w="12700">
            <a:solidFill>
              <a:srgbClr val="3446A0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5238598" y="2743200"/>
            <a:ext cx="129753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4C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50 kW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700723" y="2743200"/>
            <a:ext cx="1221638" cy="402336"/>
          </a:xfrm>
          <a:prstGeom prst="roundRect">
            <a:avLst>
              <a:gd name="adj" fmla="val 50000"/>
            </a:avLst>
          </a:prstGeom>
          <a:solidFill>
            <a:srgbClr val="17246E"/>
          </a:solidFill>
          <a:ln w="12700">
            <a:solidFill>
              <a:srgbClr val="3446A0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700723" y="2743200"/>
            <a:ext cx="122163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4C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63 rpm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3529584"/>
            <a:ext cx="3547872" cy="1207008"/>
          </a:xfrm>
          <a:prstGeom prst="roundRect">
            <a:avLst>
              <a:gd name="adj" fmla="val 5303"/>
            </a:avLst>
          </a:prstGeom>
          <a:solidFill>
            <a:srgbClr val="17246E"/>
          </a:solidFill>
          <a:ln w="12700">
            <a:solidFill>
              <a:srgbClr val="3446A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713232" y="3685032"/>
            <a:ext cx="100584" cy="100584"/>
          </a:xfrm>
          <a:prstGeom prst="ellipse">
            <a:avLst/>
          </a:prstGeom>
          <a:solidFill>
            <a:srgbClr val="9DB4D6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877824" y="3630168"/>
            <a:ext cx="30906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b="1" spc="5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41248" y="4059936"/>
            <a:ext cx="3163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B4C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pPr algn="l" indent="0" marL="0">
              <a:buNone/>
            </a:pPr>
            <a:r>
              <a:rPr lang="en-US" sz="1250" b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km</a:t>
            </a:r>
            <a:endParaRPr lang="en-US" sz="2500" dirty="0"/>
          </a:p>
        </p:txBody>
      </p:sp>
      <p:sp>
        <p:nvSpPr>
          <p:cNvPr id="21" name="Shape 18"/>
          <p:cNvSpPr/>
          <p:nvPr/>
        </p:nvSpPr>
        <p:spPr>
          <a:xfrm>
            <a:off x="4315968" y="3529584"/>
            <a:ext cx="3547872" cy="1207008"/>
          </a:xfrm>
          <a:prstGeom prst="roundRect">
            <a:avLst>
              <a:gd name="adj" fmla="val 5303"/>
            </a:avLst>
          </a:prstGeom>
          <a:solidFill>
            <a:srgbClr val="17246E"/>
          </a:solidFill>
          <a:ln w="12700">
            <a:solidFill>
              <a:srgbClr val="3446A0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4480560" y="3685032"/>
            <a:ext cx="100584" cy="100584"/>
          </a:xfrm>
          <a:prstGeom prst="ellipse">
            <a:avLst/>
          </a:prstGeom>
          <a:solidFill>
            <a:srgbClr val="9DB4D6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4645152" y="3630168"/>
            <a:ext cx="30906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b="1" spc="5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CYCLE TIME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608576" y="4059936"/>
            <a:ext cx="3163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B4C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5.77</a:t>
            </a:r>
            <a:pPr algn="l" indent="0" marL="0">
              <a:buNone/>
            </a:pPr>
            <a:r>
              <a:rPr lang="en-US" sz="1250" b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min</a:t>
            </a:r>
            <a:endParaRPr lang="en-US" sz="2500" dirty="0"/>
          </a:p>
        </p:txBody>
      </p:sp>
      <p:sp>
        <p:nvSpPr>
          <p:cNvPr id="25" name="Shape 22"/>
          <p:cNvSpPr/>
          <p:nvPr/>
        </p:nvSpPr>
        <p:spPr>
          <a:xfrm>
            <a:off x="8083296" y="3529584"/>
            <a:ext cx="3547872" cy="1207008"/>
          </a:xfrm>
          <a:prstGeom prst="roundRect">
            <a:avLst>
              <a:gd name="adj" fmla="val 5303"/>
            </a:avLst>
          </a:prstGeom>
          <a:solidFill>
            <a:srgbClr val="17246E"/>
          </a:solidFill>
          <a:ln w="12700">
            <a:solidFill>
              <a:srgbClr val="3446A0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8247888" y="3685032"/>
            <a:ext cx="100584" cy="100584"/>
          </a:xfrm>
          <a:prstGeom prst="ellipse">
            <a:avLst/>
          </a:prstGeom>
          <a:solidFill>
            <a:srgbClr val="7FA6EF"/>
          </a:solidFill>
          <a:ln/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8412480" y="3630168"/>
            <a:ext cx="30906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b="1" spc="5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BATTERY SOC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8375904" y="4059936"/>
            <a:ext cx="3163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7FA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72.45</a:t>
            </a:r>
            <a:pPr algn="l" indent="0" marL="0">
              <a:buNone/>
            </a:pPr>
            <a:r>
              <a:rPr lang="en-US" sz="1250" b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%</a:t>
            </a:r>
            <a:endParaRPr lang="en-US" sz="2500" dirty="0"/>
          </a:p>
        </p:txBody>
      </p:sp>
      <p:sp>
        <p:nvSpPr>
          <p:cNvPr id="29" name="Shape 26"/>
          <p:cNvSpPr/>
          <p:nvPr/>
        </p:nvSpPr>
        <p:spPr>
          <a:xfrm>
            <a:off x="548640" y="4919472"/>
            <a:ext cx="3547872" cy="1207008"/>
          </a:xfrm>
          <a:prstGeom prst="roundRect">
            <a:avLst>
              <a:gd name="adj" fmla="val 5303"/>
            </a:avLst>
          </a:prstGeom>
          <a:solidFill>
            <a:srgbClr val="17246E"/>
          </a:solidFill>
          <a:ln w="12700">
            <a:solidFill>
              <a:srgbClr val="3446A0"/>
            </a:solidFill>
            <a:prstDash val="solid"/>
          </a:ln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>
            <a:off x="713232" y="5074920"/>
            <a:ext cx="100584" cy="100584"/>
          </a:xfrm>
          <a:prstGeom prst="ellipse">
            <a:avLst/>
          </a:prstGeom>
          <a:solidFill>
            <a:srgbClr val="F0B25A"/>
          </a:solidFill>
          <a:ln/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877824" y="5020056"/>
            <a:ext cx="30906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b="1" spc="5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CONSUMPTION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841248" y="5449824"/>
            <a:ext cx="3163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0B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3,778.1</a:t>
            </a:r>
            <a:pPr algn="l" indent="0" marL="0">
              <a:buNone/>
            </a:pPr>
            <a:r>
              <a:rPr lang="en-US" sz="1250" b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Wh/km</a:t>
            </a:r>
            <a:endParaRPr lang="en-US" sz="2500" dirty="0"/>
          </a:p>
        </p:txBody>
      </p:sp>
      <p:sp>
        <p:nvSpPr>
          <p:cNvPr id="33" name="Shape 30"/>
          <p:cNvSpPr/>
          <p:nvPr/>
        </p:nvSpPr>
        <p:spPr>
          <a:xfrm>
            <a:off x="4315968" y="4919472"/>
            <a:ext cx="3547872" cy="1207008"/>
          </a:xfrm>
          <a:prstGeom prst="roundRect">
            <a:avLst>
              <a:gd name="adj" fmla="val 5303"/>
            </a:avLst>
          </a:prstGeom>
          <a:solidFill>
            <a:srgbClr val="17246E"/>
          </a:solidFill>
          <a:ln w="12700">
            <a:solidFill>
              <a:srgbClr val="3446A0"/>
            </a:solidFill>
            <a:prstDash val="solid"/>
          </a:ln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4480560" y="5074920"/>
            <a:ext cx="100584" cy="100584"/>
          </a:xfrm>
          <a:prstGeom prst="ellipse">
            <a:avLst/>
          </a:prstGeom>
          <a:solidFill>
            <a:srgbClr val="F0B25A"/>
          </a:solidFill>
          <a:ln/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4645152" y="5020056"/>
            <a:ext cx="30906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b="1" spc="5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@ 85%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4608576" y="5449824"/>
            <a:ext cx="3163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0B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11.25</a:t>
            </a:r>
            <a:pPr algn="l" indent="0" marL="0">
              <a:buNone/>
            </a:pPr>
            <a:r>
              <a:rPr lang="en-US" sz="1250" b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km</a:t>
            </a:r>
            <a:endParaRPr lang="en-US" sz="2500" dirty="0"/>
          </a:p>
        </p:txBody>
      </p:sp>
      <p:sp>
        <p:nvSpPr>
          <p:cNvPr id="37" name="Shape 34"/>
          <p:cNvSpPr/>
          <p:nvPr/>
        </p:nvSpPr>
        <p:spPr>
          <a:xfrm>
            <a:off x="8083296" y="4919472"/>
            <a:ext cx="3547872" cy="1207008"/>
          </a:xfrm>
          <a:prstGeom prst="roundRect">
            <a:avLst>
              <a:gd name="adj" fmla="val 5303"/>
            </a:avLst>
          </a:prstGeom>
          <a:solidFill>
            <a:srgbClr val="17246E"/>
          </a:solidFill>
          <a:ln w="12700">
            <a:solidFill>
              <a:srgbClr val="3446A0"/>
            </a:solidFill>
            <a:prstDash val="solid"/>
          </a:ln>
        </p:spPr>
        <p:txBody>
          <a:bodyPr/>
          <a:p/>
        </p:txBody>
      </p:sp>
      <p:sp>
        <p:nvSpPr>
          <p:cNvPr id="38" name="Shape 35"/>
          <p:cNvSpPr/>
          <p:nvPr/>
        </p:nvSpPr>
        <p:spPr>
          <a:xfrm>
            <a:off x="8247888" y="5074920"/>
            <a:ext cx="100584" cy="100584"/>
          </a:xfrm>
          <a:prstGeom prst="ellipse">
            <a:avLst/>
          </a:prstGeom>
          <a:solidFill>
            <a:srgbClr val="7FA6EF"/>
          </a:solidFill>
          <a:ln/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8412480" y="5020056"/>
            <a:ext cx="30906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b="1" spc="5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BATT POWER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8375904" y="5449824"/>
            <a:ext cx="3163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7FA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47.92</a:t>
            </a:r>
            <a:pPr algn="l" indent="0" marL="0">
              <a:buNone/>
            </a:pPr>
            <a:r>
              <a:rPr lang="en-US" sz="1250" b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kW</a:t>
            </a:r>
            <a:endParaRPr lang="en-US" sz="2500" dirty="0"/>
          </a:p>
        </p:txBody>
      </p:sp>
      <p:sp>
        <p:nvSpPr>
          <p:cNvPr id="41" name="Text 38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B4C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Samples: 347    |    Tool version: v1.3.0</a:t>
            </a:r>
            <a:pPr indent="0" marL="0">
              <a:buNone/>
            </a:pP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10058400" y="6419088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/  12</a:t>
            </a:r>
            <a:endParaRPr lang="en-US" sz="850" dirty="0"/>
          </a:p>
        </p:txBody>
      </p:sp>
      <p:pic>
        <p:nvPicPr>
          <p:cNvPr id="43" name="Picture 42" descr="astauto-light-text_web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9783" y="146304"/>
            <a:ext cx="1325880" cy="4291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85216" cy="585216"/>
          </a:xfrm>
          <a:prstGeom prst="ellipse">
            <a:avLst/>
          </a:prstGeom>
          <a:solidFill>
            <a:srgbClr val="2E56D0"/>
          </a:solidFill>
          <a:ln/>
          <a:effectLst>
            <a:outerShdw sx="100000" sy="100000" kx="0" ky="0" algn="bl" rotWithShape="0" blurRad="76200" dist="25400" dir="5400000">
              <a:srgbClr val="0A1524">
                <a:alpha val="25000"/>
              </a:srgbClr>
            </a:outerShdw>
          </a:effectLst>
        </p:spPr>
        <p:txBody>
          <a:bodyPr/>
          <a:p/>
        </p:txBody>
      </p:sp>
      <p:pic>
        <p:nvPicPr>
          <p:cNvPr id="3" name="Image 0" descr="assets/ic_rout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12648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&amp; Simulation Overview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344168" y="859536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profile resolution and deterministic simulation scope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1221638" cy="402336"/>
          </a:xfrm>
          <a:prstGeom prst="roundRect">
            <a:avLst>
              <a:gd name="adj" fmla="val 50000"/>
            </a:avLst>
          </a:prstGeom>
          <a:solidFill>
            <a:srgbClr val="EEF2F8"/>
          </a:solidFill>
          <a:ln w="12700">
            <a:solidFill>
              <a:srgbClr val="E3E8F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48640" y="1417320"/>
            <a:ext cx="122163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3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GVW 3,500 kg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1934870" y="1417320"/>
            <a:ext cx="1752905" cy="402336"/>
          </a:xfrm>
          <a:prstGeom prst="roundRect">
            <a:avLst>
              <a:gd name="adj" fmla="val 50000"/>
            </a:avLst>
          </a:prstGeom>
          <a:solidFill>
            <a:srgbClr val="EEF2F8"/>
          </a:solidFill>
          <a:ln w="12700">
            <a:solidFill>
              <a:srgbClr val="E3E8F0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934870" y="1417320"/>
            <a:ext cx="1752905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3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powertrain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852367" y="1417320"/>
            <a:ext cx="1221638" cy="402336"/>
          </a:xfrm>
          <a:prstGeom prst="roundRect">
            <a:avLst>
              <a:gd name="adj" fmla="val 50000"/>
            </a:avLst>
          </a:prstGeom>
          <a:solidFill>
            <a:srgbClr val="EEF2F8"/>
          </a:solidFill>
          <a:ln w="12700">
            <a:solidFill>
              <a:srgbClr val="E3E8F0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3852367" y="1417320"/>
            <a:ext cx="122163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3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kph field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238598" y="1417320"/>
            <a:ext cx="1297534" cy="402336"/>
          </a:xfrm>
          <a:prstGeom prst="roundRect">
            <a:avLst>
              <a:gd name="adj" fmla="val 50000"/>
            </a:avLst>
          </a:prstGeom>
          <a:solidFill>
            <a:srgbClr val="EEF2F8"/>
          </a:solidFill>
          <a:ln w="12700">
            <a:solidFill>
              <a:srgbClr val="E3E8F0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238598" y="1417320"/>
            <a:ext cx="129753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3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50 kW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700723" y="1417320"/>
            <a:ext cx="1221638" cy="402336"/>
          </a:xfrm>
          <a:prstGeom prst="roundRect">
            <a:avLst>
              <a:gd name="adj" fmla="val 50000"/>
            </a:avLst>
          </a:prstGeom>
          <a:solidFill>
            <a:srgbClr val="EEF2F8"/>
          </a:solidFill>
          <a:ln w="12700">
            <a:solidFill>
              <a:srgbClr val="E3E8F0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700723" y="1417320"/>
            <a:ext cx="122163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3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63 rpm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2057400"/>
            <a:ext cx="544068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1524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804672" y="2295144"/>
            <a:ext cx="457200" cy="457200"/>
          </a:xfrm>
          <a:prstGeom prst="ellipse">
            <a:avLst/>
          </a:prstGeom>
          <a:solidFill>
            <a:srgbClr val="2E56D0"/>
          </a:solidFill>
          <a:ln/>
        </p:spPr>
        <p:txBody>
          <a:bodyPr/>
          <a:p/>
        </p:txBody>
      </p:sp>
      <p:pic>
        <p:nvPicPr>
          <p:cNvPr id="18" name="Image 1" descr="assets/ic_dashboard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2395728"/>
            <a:ext cx="256032" cy="25603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417320" y="2295144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 Cycle Structure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841248" y="2926080"/>
            <a:ext cx="489204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E5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293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reporting profile: Electric.</a:t>
            </a:r>
            <a:endParaRPr lang="en-US" sz="1150" dirty="0"/>
          </a:p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E5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293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Powertrain type: fully electric.</a:t>
            </a:r>
            <a:endParaRPr lang="en-US" sz="1150" dirty="0"/>
          </a:p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E5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293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samples: 347  ·  source channels: 601.</a:t>
            </a:r>
            <a:endParaRPr lang="en-US" sz="1150" dirty="0"/>
          </a:p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E5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293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required raw channels: 289 / 289.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6199632" y="2057400"/>
            <a:ext cx="544068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A1524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2" name="Shape 18"/>
          <p:cNvSpPr/>
          <p:nvPr/>
        </p:nvSpPr>
        <p:spPr>
          <a:xfrm>
            <a:off x="6455664" y="2295144"/>
            <a:ext cx="457200" cy="457200"/>
          </a:xfrm>
          <a:prstGeom prst="ellipse">
            <a:avLst/>
          </a:prstGeom>
          <a:solidFill>
            <a:srgbClr val="2E56D0"/>
          </a:solidFill>
          <a:ln/>
        </p:spPr>
        <p:txBody>
          <a:bodyPr/>
          <a:p/>
        </p:txBody>
      </p:sp>
      <p:pic>
        <p:nvPicPr>
          <p:cNvPr id="23" name="Image 2" descr="assets/ic_energy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48" y="2395728"/>
            <a:ext cx="256032" cy="25603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068312" y="2295144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Computation Context</a:t>
            </a:r>
            <a:endParaRPr lang="en-US" sz="1700" dirty="0"/>
          </a:p>
        </p:txBody>
      </p:sp>
      <p:sp>
        <p:nvSpPr>
          <p:cNvPr id="25" name="Text 20"/>
          <p:cNvSpPr/>
          <p:nvPr/>
        </p:nvSpPr>
        <p:spPr>
          <a:xfrm>
            <a:off x="6492240" y="2926080"/>
            <a:ext cx="489204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E5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293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MATH channels: 25.</a:t>
            </a:r>
            <a:endParaRPr lang="en-US" sz="1150" dirty="0"/>
          </a:p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E5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293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statistics: 35  ·  KPIs: 12.</a:t>
            </a:r>
            <a:endParaRPr lang="en-US" sz="1150" dirty="0"/>
          </a:p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E5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293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profile plots: 15.</a:t>
            </a:r>
            <a:endParaRPr lang="en-US" sz="1150" dirty="0"/>
          </a:p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E5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293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 / all-zero resolved channels: 33.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548640" y="5230368"/>
            <a:ext cx="2663190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7" name="Shape 22"/>
          <p:cNvSpPr/>
          <p:nvPr/>
        </p:nvSpPr>
        <p:spPr>
          <a:xfrm>
            <a:off x="713232" y="5385816"/>
            <a:ext cx="100584" cy="100584"/>
          </a:xfrm>
          <a:prstGeom prst="ellipse">
            <a:avLst/>
          </a:prstGeom>
          <a:solidFill>
            <a:srgbClr val="5C6B82"/>
          </a:solidFill>
          <a:ln/>
        </p:spPr>
        <p:txBody>
          <a:bodyPr/>
          <a:p/>
        </p:txBody>
      </p:sp>
      <p:sp>
        <p:nvSpPr>
          <p:cNvPr id="28" name="Text 23"/>
          <p:cNvSpPr/>
          <p:nvPr/>
        </p:nvSpPr>
        <p:spPr>
          <a:xfrm>
            <a:off x="877824" y="5330952"/>
            <a:ext cx="220599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CYCLE TIME</a:t>
            </a:r>
            <a:endParaRPr lang="en-US" sz="850" dirty="0"/>
          </a:p>
        </p:txBody>
      </p:sp>
      <p:sp>
        <p:nvSpPr>
          <p:cNvPr id="29" name="Text 24"/>
          <p:cNvSpPr/>
          <p:nvPr/>
        </p:nvSpPr>
        <p:spPr>
          <a:xfrm>
            <a:off x="841248" y="5596128"/>
            <a:ext cx="22791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5.77</a:t>
            </a:r>
            <a:pPr algn="l" indent="0" marL="0">
              <a:buNone/>
            </a:pPr>
            <a:r>
              <a:rPr lang="en-US" sz="12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min</a:t>
            </a:r>
            <a:endParaRPr lang="en-US" sz="2400" dirty="0"/>
          </a:p>
        </p:txBody>
      </p:sp>
      <p:sp>
        <p:nvSpPr>
          <p:cNvPr id="30" name="Shape 25"/>
          <p:cNvSpPr/>
          <p:nvPr/>
        </p:nvSpPr>
        <p:spPr>
          <a:xfrm>
            <a:off x="3358134" y="5230368"/>
            <a:ext cx="2663190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31" name="Shape 26"/>
          <p:cNvSpPr/>
          <p:nvPr/>
        </p:nvSpPr>
        <p:spPr>
          <a:xfrm>
            <a:off x="3522726" y="5385816"/>
            <a:ext cx="100584" cy="100584"/>
          </a:xfrm>
          <a:prstGeom prst="ellipse">
            <a:avLst/>
          </a:prstGeom>
          <a:solidFill>
            <a:srgbClr val="5C6B82"/>
          </a:solidFill>
          <a:ln/>
        </p:spPr>
        <p:txBody>
          <a:bodyPr/>
          <a:p/>
        </p:txBody>
      </p:sp>
      <p:sp>
        <p:nvSpPr>
          <p:cNvPr id="32" name="Text 27"/>
          <p:cNvSpPr/>
          <p:nvPr/>
        </p:nvSpPr>
        <p:spPr>
          <a:xfrm>
            <a:off x="3687318" y="5330952"/>
            <a:ext cx="220599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850" dirty="0"/>
          </a:p>
        </p:txBody>
      </p:sp>
      <p:sp>
        <p:nvSpPr>
          <p:cNvPr id="33" name="Text 28"/>
          <p:cNvSpPr/>
          <p:nvPr/>
        </p:nvSpPr>
        <p:spPr>
          <a:xfrm>
            <a:off x="3650742" y="5596128"/>
            <a:ext cx="22791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pPr algn="l" indent="0" marL="0">
              <a:buNone/>
            </a:pPr>
            <a:r>
              <a:rPr lang="en-US" sz="12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km</a:t>
            </a:r>
            <a:endParaRPr lang="en-US" sz="2400" dirty="0"/>
          </a:p>
        </p:txBody>
      </p:sp>
      <p:sp>
        <p:nvSpPr>
          <p:cNvPr id="34" name="Shape 29"/>
          <p:cNvSpPr/>
          <p:nvPr/>
        </p:nvSpPr>
        <p:spPr>
          <a:xfrm>
            <a:off x="6167628" y="5230368"/>
            <a:ext cx="2663190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35" name="Shape 30"/>
          <p:cNvSpPr/>
          <p:nvPr/>
        </p:nvSpPr>
        <p:spPr>
          <a:xfrm>
            <a:off x="6332220" y="5385816"/>
            <a:ext cx="100584" cy="100584"/>
          </a:xfrm>
          <a:prstGeom prst="ellipse">
            <a:avLst/>
          </a:prstGeom>
          <a:solidFill>
            <a:srgbClr val="5C6B82"/>
          </a:solidFill>
          <a:ln/>
        </p:spPr>
        <p:txBody>
          <a:bodyPr/>
          <a:p/>
        </p:txBody>
      </p:sp>
      <p:sp>
        <p:nvSpPr>
          <p:cNvPr id="36" name="Text 31"/>
          <p:cNvSpPr/>
          <p:nvPr/>
        </p:nvSpPr>
        <p:spPr>
          <a:xfrm>
            <a:off x="6496812" y="5330952"/>
            <a:ext cx="220599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SPEED</a:t>
            </a:r>
            <a:endParaRPr lang="en-US" sz="850" dirty="0"/>
          </a:p>
        </p:txBody>
      </p:sp>
      <p:sp>
        <p:nvSpPr>
          <p:cNvPr id="37" name="Text 32"/>
          <p:cNvSpPr/>
          <p:nvPr/>
        </p:nvSpPr>
        <p:spPr>
          <a:xfrm>
            <a:off x="6460236" y="5596128"/>
            <a:ext cx="22791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14.93</a:t>
            </a:r>
            <a:pPr algn="l" indent="0" marL="0">
              <a:buNone/>
            </a:pPr>
            <a:r>
              <a:rPr lang="en-US" sz="12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kph</a:t>
            </a:r>
            <a:endParaRPr lang="en-US" sz="2400" dirty="0"/>
          </a:p>
        </p:txBody>
      </p:sp>
      <p:sp>
        <p:nvSpPr>
          <p:cNvPr id="38" name="Shape 33"/>
          <p:cNvSpPr/>
          <p:nvPr/>
        </p:nvSpPr>
        <p:spPr>
          <a:xfrm>
            <a:off x="8977122" y="5230368"/>
            <a:ext cx="2663190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39" name="Shape 34"/>
          <p:cNvSpPr/>
          <p:nvPr/>
        </p:nvSpPr>
        <p:spPr>
          <a:xfrm>
            <a:off x="9141714" y="5385816"/>
            <a:ext cx="100584" cy="100584"/>
          </a:xfrm>
          <a:prstGeom prst="ellipse">
            <a:avLst/>
          </a:prstGeom>
          <a:solidFill>
            <a:srgbClr val="2E56D0"/>
          </a:solidFill>
          <a:ln/>
        </p:spPr>
        <p:txBody>
          <a:bodyPr/>
          <a:p/>
        </p:txBody>
      </p:sp>
      <p:sp>
        <p:nvSpPr>
          <p:cNvPr id="40" name="Text 35"/>
          <p:cNvSpPr/>
          <p:nvPr/>
        </p:nvSpPr>
        <p:spPr>
          <a:xfrm>
            <a:off x="9306306" y="5330952"/>
            <a:ext cx="220599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BATTERY SOC</a:t>
            </a:r>
            <a:endParaRPr lang="en-US" sz="850" dirty="0"/>
          </a:p>
        </p:txBody>
      </p:sp>
      <p:sp>
        <p:nvSpPr>
          <p:cNvPr id="41" name="Text 36"/>
          <p:cNvSpPr/>
          <p:nvPr/>
        </p:nvSpPr>
        <p:spPr>
          <a:xfrm>
            <a:off x="9269730" y="5596128"/>
            <a:ext cx="22791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5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72.45</a:t>
            </a:r>
            <a:pPr algn="l" indent="0" marL="0">
              <a:buNone/>
            </a:pPr>
            <a:r>
              <a:rPr lang="en-US" sz="12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%</a:t>
            </a:r>
            <a:endParaRPr lang="en-US" sz="2400" dirty="0"/>
          </a:p>
        </p:txBody>
      </p:sp>
      <p:sp>
        <p:nvSpPr>
          <p:cNvPr id="42" name="Text 37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VSM ENGINEERING</a:t>
            </a:r>
            <a:pPr indent="0" marL="0">
              <a:buNone/>
            </a:pPr>
            <a:r>
              <a:rPr lang="en-US" sz="850" spc="12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POST-PROCESSING TOOL  v1.3.0</a:t>
            </a:r>
            <a:endParaRPr lang="en-US" sz="850" dirty="0"/>
          </a:p>
        </p:txBody>
      </p:sp>
      <p:sp>
        <p:nvSpPr>
          <p:cNvPr id="43" name="Text 38"/>
          <p:cNvSpPr/>
          <p:nvPr/>
        </p:nvSpPr>
        <p:spPr>
          <a:xfrm>
            <a:off x="10058400" y="6419088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/  12</a:t>
            </a:r>
            <a:endParaRPr lang="en-US" sz="850" dirty="0"/>
          </a:p>
        </p:txBody>
      </p:sp>
      <p:pic>
        <p:nvPicPr>
          <p:cNvPr id="44" name="Picture 43" descr="astauto-light-text_web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9783" y="146304"/>
            <a:ext cx="1325880" cy="4291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85216" cy="585216"/>
          </a:xfrm>
          <a:prstGeom prst="ellipse">
            <a:avLst/>
          </a:prstGeom>
          <a:solidFill>
            <a:srgbClr val="2E56D0"/>
          </a:solidFill>
          <a:ln/>
          <a:effectLst>
            <a:outerShdw sx="100000" sy="100000" kx="0" ky="0" algn="bl" rotWithShape="0" blurRad="76200" dist="25400" dir="5400000">
              <a:srgbClr val="0A1524">
                <a:alpha val="25000"/>
              </a:srgbClr>
            </a:outerShdw>
          </a:effectLst>
        </p:spPr>
        <p:txBody>
          <a:bodyPr/>
          <a:p/>
        </p:txBody>
      </p:sp>
      <p:pic>
        <p:nvPicPr>
          <p:cNvPr id="3" name="Image 0" descr="assets/ic_dashboard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12648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Results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344168" y="859536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KPIs from the validated profile pipeline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858000" y="502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A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algn="r" indent="0" marL="0">
              <a:buNone/>
            </a:pPr>
            <a:r>
              <a:rPr lang="en-US" sz="1100" b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  ● Consumption   ● Drive Cycle</a:t>
            </a:r>
            <a:pPr algn="r" indent="0" marL="0">
              <a:buNone/>
            </a:pPr>
            <a:r>
              <a:rPr lang="en-US" sz="1100" b="1" dirty="0">
                <a:solidFill>
                  <a:srgbClr val="F0B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pPr algn="r" indent="0" marL="0">
              <a:buNone/>
            </a:pPr>
            <a:r>
              <a:rPr lang="en-US" sz="1100" b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pPr algn="r" indent="0" marL="0">
              <a:buNone/>
            </a:pPr>
            <a:r>
              <a:rPr lang="en-US" sz="1100" b="1" dirty="0">
                <a:solidFill>
                  <a:srgbClr val="B4C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pPr algn="r" indent="0" marL="0">
              <a:buNone/>
            </a:pPr>
            <a:r>
              <a:rPr lang="en-US" sz="1100" b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2578608" cy="1783080"/>
          </a:xfrm>
          <a:prstGeom prst="roundRect">
            <a:avLst>
              <a:gd name="adj" fmla="val 3590"/>
            </a:avLst>
          </a:prstGeom>
          <a:solidFill>
            <a:srgbClr val="17246E"/>
          </a:solidFill>
          <a:ln w="12700">
            <a:solidFill>
              <a:srgbClr val="3446A0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713232" y="1847088"/>
            <a:ext cx="100584" cy="100584"/>
          </a:xfrm>
          <a:prstGeom prst="ellipse">
            <a:avLst/>
          </a:prstGeom>
          <a:solidFill>
            <a:srgbClr val="9DB4D6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877824" y="1792224"/>
            <a:ext cx="21214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spc="5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CYCLE TIME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41248" y="279806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B4C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5.77</a:t>
            </a:r>
            <a:pPr algn="l" indent="0" marL="0">
              <a:buNone/>
            </a:pPr>
            <a:r>
              <a:rPr lang="en-US" sz="1600" b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min</a:t>
            </a:r>
            <a:endParaRPr lang="en-US" sz="3200" dirty="0"/>
          </a:p>
        </p:txBody>
      </p:sp>
      <p:sp>
        <p:nvSpPr>
          <p:cNvPr id="11" name="Shape 8"/>
          <p:cNvSpPr/>
          <p:nvPr/>
        </p:nvSpPr>
        <p:spPr>
          <a:xfrm>
            <a:off x="3383280" y="1691640"/>
            <a:ext cx="2578608" cy="1783080"/>
          </a:xfrm>
          <a:prstGeom prst="roundRect">
            <a:avLst>
              <a:gd name="adj" fmla="val 3590"/>
            </a:avLst>
          </a:prstGeom>
          <a:solidFill>
            <a:srgbClr val="17246E"/>
          </a:solidFill>
          <a:ln w="12700">
            <a:solidFill>
              <a:srgbClr val="3446A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3547872" y="1847088"/>
            <a:ext cx="100584" cy="100584"/>
          </a:xfrm>
          <a:prstGeom prst="ellipse">
            <a:avLst/>
          </a:prstGeom>
          <a:solidFill>
            <a:srgbClr val="9DB4D6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3712464" y="1792224"/>
            <a:ext cx="21214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spc="5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675888" y="279806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B4C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pPr algn="l" indent="0" marL="0">
              <a:buNone/>
            </a:pPr>
            <a:r>
              <a:rPr lang="en-US" sz="1600" b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km</a:t>
            </a:r>
            <a:endParaRPr lang="en-US" sz="3200" dirty="0"/>
          </a:p>
        </p:txBody>
      </p:sp>
      <p:sp>
        <p:nvSpPr>
          <p:cNvPr id="15" name="Shape 12"/>
          <p:cNvSpPr/>
          <p:nvPr/>
        </p:nvSpPr>
        <p:spPr>
          <a:xfrm>
            <a:off x="6217920" y="1691640"/>
            <a:ext cx="2578608" cy="1783080"/>
          </a:xfrm>
          <a:prstGeom prst="roundRect">
            <a:avLst>
              <a:gd name="adj" fmla="val 3590"/>
            </a:avLst>
          </a:prstGeom>
          <a:solidFill>
            <a:srgbClr val="17246E"/>
          </a:solidFill>
          <a:ln w="12700">
            <a:solidFill>
              <a:srgbClr val="3446A0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6382512" y="1847088"/>
            <a:ext cx="100584" cy="100584"/>
          </a:xfrm>
          <a:prstGeom prst="ellipse">
            <a:avLst/>
          </a:prstGeom>
          <a:solidFill>
            <a:srgbClr val="9DB4D6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547104" y="1792224"/>
            <a:ext cx="21214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spc="5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SPEED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510528" y="279806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B4C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14.93</a:t>
            </a:r>
            <a:pPr algn="l" indent="0" marL="0">
              <a:buNone/>
            </a:pPr>
            <a:r>
              <a:rPr lang="en-US" sz="1600" b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kph</a:t>
            </a:r>
            <a:endParaRPr lang="en-US" sz="3200" dirty="0"/>
          </a:p>
        </p:txBody>
      </p:sp>
      <p:sp>
        <p:nvSpPr>
          <p:cNvPr id="19" name="Shape 16"/>
          <p:cNvSpPr/>
          <p:nvPr/>
        </p:nvSpPr>
        <p:spPr>
          <a:xfrm>
            <a:off x="9052560" y="1691640"/>
            <a:ext cx="2578608" cy="1783080"/>
          </a:xfrm>
          <a:prstGeom prst="roundRect">
            <a:avLst>
              <a:gd name="adj" fmla="val 3590"/>
            </a:avLst>
          </a:prstGeom>
          <a:solidFill>
            <a:srgbClr val="17246E"/>
          </a:solidFill>
          <a:ln w="12700">
            <a:solidFill>
              <a:srgbClr val="3446A0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9217152" y="1847088"/>
            <a:ext cx="100584" cy="100584"/>
          </a:xfrm>
          <a:prstGeom prst="ellipse">
            <a:avLst/>
          </a:prstGeom>
          <a:solidFill>
            <a:srgbClr val="7FA6EF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9381744" y="1792224"/>
            <a:ext cx="21214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spc="5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BATTERY SOC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9345168" y="279806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7FA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80.00</a:t>
            </a:r>
            <a:pPr algn="l" indent="0" marL="0">
              <a:buNone/>
            </a:pPr>
            <a:r>
              <a:rPr lang="en-US" sz="1600" b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%</a:t>
            </a:r>
            <a:endParaRPr lang="en-US" sz="3200" dirty="0"/>
          </a:p>
        </p:txBody>
      </p:sp>
      <p:sp>
        <p:nvSpPr>
          <p:cNvPr id="23" name="Shape 20"/>
          <p:cNvSpPr/>
          <p:nvPr/>
        </p:nvSpPr>
        <p:spPr>
          <a:xfrm>
            <a:off x="548640" y="3712464"/>
            <a:ext cx="2578608" cy="1783080"/>
          </a:xfrm>
          <a:prstGeom prst="roundRect">
            <a:avLst>
              <a:gd name="adj" fmla="val 3590"/>
            </a:avLst>
          </a:prstGeom>
          <a:solidFill>
            <a:srgbClr val="17246E"/>
          </a:solidFill>
          <a:ln w="12700">
            <a:solidFill>
              <a:srgbClr val="3446A0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713232" y="3867912"/>
            <a:ext cx="100584" cy="100584"/>
          </a:xfrm>
          <a:prstGeom prst="ellipse">
            <a:avLst/>
          </a:prstGeom>
          <a:solidFill>
            <a:srgbClr val="7FA6EF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877824" y="3813048"/>
            <a:ext cx="21214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spc="5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BATTERY SOC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841248" y="481888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7FA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72.45</a:t>
            </a:r>
            <a:pPr algn="l" indent="0" marL="0">
              <a:buNone/>
            </a:pPr>
            <a:r>
              <a:rPr lang="en-US" sz="1600" b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%</a:t>
            </a:r>
            <a:endParaRPr lang="en-US" sz="3200" dirty="0"/>
          </a:p>
        </p:txBody>
      </p:sp>
      <p:sp>
        <p:nvSpPr>
          <p:cNvPr id="27" name="Shape 24"/>
          <p:cNvSpPr/>
          <p:nvPr/>
        </p:nvSpPr>
        <p:spPr>
          <a:xfrm>
            <a:off x="3383280" y="3712464"/>
            <a:ext cx="2578608" cy="1783080"/>
          </a:xfrm>
          <a:prstGeom prst="roundRect">
            <a:avLst>
              <a:gd name="adj" fmla="val 3590"/>
            </a:avLst>
          </a:prstGeom>
          <a:solidFill>
            <a:srgbClr val="17246E"/>
          </a:solidFill>
          <a:ln w="12700">
            <a:solidFill>
              <a:srgbClr val="3446A0"/>
            </a:solidFill>
            <a:prstDash val="solid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3547872" y="3867912"/>
            <a:ext cx="100584" cy="100584"/>
          </a:xfrm>
          <a:prstGeom prst="ellipse">
            <a:avLst/>
          </a:prstGeom>
          <a:solidFill>
            <a:srgbClr val="F0B25A"/>
          </a:solidFill>
          <a:ln/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3712464" y="3813048"/>
            <a:ext cx="21214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spc="5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CAPACITY USED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3675888" y="481888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0B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3.77</a:t>
            </a:r>
            <a:pPr algn="l" indent="0" marL="0">
              <a:buNone/>
            </a:pPr>
            <a:r>
              <a:rPr lang="en-US" sz="1600" b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kWh</a:t>
            </a:r>
            <a:endParaRPr lang="en-US" sz="3200" dirty="0"/>
          </a:p>
        </p:txBody>
      </p:sp>
      <p:sp>
        <p:nvSpPr>
          <p:cNvPr id="31" name="Shape 28"/>
          <p:cNvSpPr/>
          <p:nvPr/>
        </p:nvSpPr>
        <p:spPr>
          <a:xfrm>
            <a:off x="6217920" y="3712464"/>
            <a:ext cx="2578608" cy="1783080"/>
          </a:xfrm>
          <a:prstGeom prst="roundRect">
            <a:avLst>
              <a:gd name="adj" fmla="val 3590"/>
            </a:avLst>
          </a:prstGeom>
          <a:solidFill>
            <a:srgbClr val="17246E"/>
          </a:solidFill>
          <a:ln w="12700">
            <a:solidFill>
              <a:srgbClr val="3446A0"/>
            </a:solidFill>
            <a:prstDash val="solid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6382512" y="3867912"/>
            <a:ext cx="100584" cy="100584"/>
          </a:xfrm>
          <a:prstGeom prst="ellipse">
            <a:avLst/>
          </a:prstGeom>
          <a:solidFill>
            <a:srgbClr val="F0B25A"/>
          </a:solidFill>
          <a:ln/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6547104" y="3813048"/>
            <a:ext cx="21214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spc="5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CONSUMPTION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6510528" y="481888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0B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3,778.1</a:t>
            </a:r>
            <a:pPr algn="l" indent="0" marL="0">
              <a:buNone/>
            </a:pPr>
            <a:r>
              <a:rPr lang="en-US" sz="1600" b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Wh/km</a:t>
            </a:r>
            <a:endParaRPr lang="en-US" sz="3200" dirty="0"/>
          </a:p>
        </p:txBody>
      </p:sp>
      <p:sp>
        <p:nvSpPr>
          <p:cNvPr id="35" name="Shape 32"/>
          <p:cNvSpPr/>
          <p:nvPr/>
        </p:nvSpPr>
        <p:spPr>
          <a:xfrm>
            <a:off x="9052560" y="3712464"/>
            <a:ext cx="2578608" cy="1783080"/>
          </a:xfrm>
          <a:prstGeom prst="roundRect">
            <a:avLst>
              <a:gd name="adj" fmla="val 3590"/>
            </a:avLst>
          </a:prstGeom>
          <a:solidFill>
            <a:srgbClr val="17246E"/>
          </a:solidFill>
          <a:ln w="12700">
            <a:solidFill>
              <a:srgbClr val="3446A0"/>
            </a:solidFill>
            <a:prstDash val="solid"/>
          </a:ln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9217152" y="3867912"/>
            <a:ext cx="100584" cy="100584"/>
          </a:xfrm>
          <a:prstGeom prst="ellipse">
            <a:avLst/>
          </a:prstGeom>
          <a:solidFill>
            <a:srgbClr val="F0B25A"/>
          </a:solidFill>
          <a:ln/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9381744" y="3813048"/>
            <a:ext cx="21214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spc="5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@ 85%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9345168" y="481888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0B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11.25</a:t>
            </a:r>
            <a:pPr algn="l" indent="0" marL="0">
              <a:buNone/>
            </a:pPr>
            <a:r>
              <a:rPr lang="en-US" sz="1600" b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km</a:t>
            </a:r>
            <a:endParaRPr lang="en-US" sz="3200" dirty="0"/>
          </a:p>
        </p:txBody>
      </p:sp>
      <p:sp>
        <p:nvSpPr>
          <p:cNvPr id="39" name="Text 36"/>
          <p:cNvSpPr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Calculations are sourced from the profile statistics and KPI results.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B4C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VSM ENGINEERING</a:t>
            </a:r>
            <a:pPr indent="0" marL="0">
              <a:buNone/>
            </a:pPr>
            <a:r>
              <a:rPr lang="en-US" sz="850" spc="12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POST-PROCESSING TOOL  v1.3.0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10058400" y="6419088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/  12</a:t>
            </a:r>
            <a:endParaRPr lang="en-US" sz="850" dirty="0"/>
          </a:p>
        </p:txBody>
      </p:sp>
      <p:pic>
        <p:nvPicPr>
          <p:cNvPr id="42" name="Picture 41" descr="astauto-light-text_web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9783" y="146304"/>
            <a:ext cx="1325880" cy="4291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85216" cy="585216"/>
          </a:xfrm>
          <a:prstGeom prst="ellipse">
            <a:avLst/>
          </a:prstGeom>
          <a:solidFill>
            <a:srgbClr val="2E56D0"/>
          </a:solidFill>
          <a:ln/>
          <a:effectLst>
            <a:outerShdw sx="100000" sy="100000" kx="0" ky="0" algn="bl" rotWithShape="0" blurRad="76200" dist="25400" dir="5400000">
              <a:srgbClr val="0A1524">
                <a:alpha val="25000"/>
              </a:srgbClr>
            </a:outerShdw>
          </a:effectLst>
        </p:spPr>
        <p:txBody>
          <a:bodyPr/>
          <a:p/>
        </p:txBody>
      </p:sp>
      <p:pic>
        <p:nvPicPr>
          <p:cNvPr id="3" name="Image 0" descr="assets/ic_gaug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12648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Vehicle Operation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344168" y="859536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trace from the validated profile plot output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2663190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713232" y="1728216"/>
            <a:ext cx="100584" cy="100584"/>
          </a:xfrm>
          <a:prstGeom prst="ellipse">
            <a:avLst/>
          </a:prstGeom>
          <a:solidFill>
            <a:srgbClr val="5C6B82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77824" y="1673352"/>
            <a:ext cx="220599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841248" y="1938528"/>
            <a:ext cx="22791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pPr algn="l" indent="0" marL="0">
              <a:buNone/>
            </a:pPr>
            <a:r>
              <a:rPr lang="en-US" sz="12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km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3358134" y="1572768"/>
            <a:ext cx="2663190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3522726" y="1728216"/>
            <a:ext cx="100584" cy="100584"/>
          </a:xfrm>
          <a:prstGeom prst="ellipse">
            <a:avLst/>
          </a:prstGeom>
          <a:solidFill>
            <a:srgbClr val="5C6B82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3687318" y="1673352"/>
            <a:ext cx="220599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CYCLE TIME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650742" y="1938528"/>
            <a:ext cx="22791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5.77</a:t>
            </a:r>
            <a:pPr algn="l" indent="0" marL="0">
              <a:buNone/>
            </a:pPr>
            <a:r>
              <a:rPr lang="en-US" sz="12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min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6167628" y="1572768"/>
            <a:ext cx="2663190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6332220" y="1728216"/>
            <a:ext cx="100584" cy="100584"/>
          </a:xfrm>
          <a:prstGeom prst="ellipse">
            <a:avLst/>
          </a:prstGeom>
          <a:solidFill>
            <a:srgbClr val="5C6B82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496812" y="1673352"/>
            <a:ext cx="220599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SPEED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460236" y="1938528"/>
            <a:ext cx="22791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14.93</a:t>
            </a:r>
            <a:pPr algn="l" indent="0" marL="0">
              <a:buNone/>
            </a:pPr>
            <a:r>
              <a:rPr lang="en-US" sz="12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kph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8977122" y="1572768"/>
            <a:ext cx="2663190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9141714" y="1728216"/>
            <a:ext cx="100584" cy="100584"/>
          </a:xfrm>
          <a:prstGeom prst="ellipse">
            <a:avLst/>
          </a:prstGeom>
          <a:solidFill>
            <a:srgbClr val="2E56D0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9306306" y="1673352"/>
            <a:ext cx="220599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BATTERY SOC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9269730" y="1938528"/>
            <a:ext cx="22791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5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72.45</a:t>
            </a:r>
            <a:pPr algn="l" indent="0" marL="0">
              <a:buNone/>
            </a:pPr>
            <a:r>
              <a:rPr lang="en-US" sz="12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%</a:t>
            </a:r>
            <a:endParaRPr lang="en-US" sz="2400" dirty="0"/>
          </a:p>
        </p:txBody>
      </p:sp>
      <p:sp>
        <p:nvSpPr>
          <p:cNvPr id="22" name="Shape 19"/>
          <p:cNvSpPr/>
          <p:nvPr/>
        </p:nvSpPr>
        <p:spPr>
          <a:xfrm>
            <a:off x="2776576" y="2880360"/>
            <a:ext cx="6638544" cy="34290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A15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4" name="Text 20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VSM ENGINEERING</a:t>
            </a:r>
            <a:pPr indent="0" marL="0">
              <a:buNone/>
            </a:pPr>
            <a:r>
              <a:rPr lang="en-US" sz="850" spc="12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POST-PROCESSING TOOL  v1.3.0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10058400" y="6419088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/  12</a:t>
            </a:r>
            <a:endParaRPr lang="en-US" sz="850" dirty="0"/>
          </a:p>
        </p:txBody>
      </p:sp>
      <p:pic>
        <p:nvPicPr>
          <p:cNvPr id="27" name="Picture 26" descr="astauto-light-text_web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9783" y="146304"/>
            <a:ext cx="1325880" cy="42913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6304" y="2990088"/>
            <a:ext cx="6419088" cy="32095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85216" cy="585216"/>
          </a:xfrm>
          <a:prstGeom prst="ellipse">
            <a:avLst/>
          </a:prstGeom>
          <a:solidFill>
            <a:srgbClr val="2E56D0"/>
          </a:solidFill>
          <a:ln/>
          <a:effectLst>
            <a:outerShdw sx="100000" sy="100000" kx="0" ky="0" algn="bl" rotWithShape="0" blurRad="76200" dist="25400" dir="5400000">
              <a:srgbClr val="0A1524">
                <a:alpha val="25000"/>
              </a:srgbClr>
            </a:outerShdw>
          </a:effectLst>
        </p:spPr>
        <p:txBody>
          <a:bodyPr/>
          <a:p/>
        </p:txBody>
      </p:sp>
      <p:pic>
        <p:nvPicPr>
          <p:cNvPr id="3" name="Image 0" descr="assets/ic_battery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12648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Battery &amp; Electrical Energy System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344168" y="859536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charge, stored energy and battery demand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726692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713232" y="1728216"/>
            <a:ext cx="100584" cy="100584"/>
          </a:xfrm>
          <a:prstGeom prst="ellipse">
            <a:avLst/>
          </a:prstGeom>
          <a:solidFill>
            <a:srgbClr val="2E56D0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77824" y="1673352"/>
            <a:ext cx="12694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BATTERY SOC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841248" y="2066544"/>
            <a:ext cx="1342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E5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80.00</a:t>
            </a:r>
            <a:pPr algn="l" indent="0" marL="0">
              <a:buNone/>
            </a:pPr>
            <a:r>
              <a:rPr lang="en-US" sz="105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%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2421636" y="1572768"/>
            <a:ext cx="1726692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2586228" y="1728216"/>
            <a:ext cx="100584" cy="100584"/>
          </a:xfrm>
          <a:prstGeom prst="ellipse">
            <a:avLst/>
          </a:prstGeom>
          <a:solidFill>
            <a:srgbClr val="2E56D0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2750820" y="1673352"/>
            <a:ext cx="12694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BATTERY SOC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2714244" y="2066544"/>
            <a:ext cx="1342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E5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72.45</a:t>
            </a:r>
            <a:pPr algn="l" indent="0" marL="0">
              <a:buNone/>
            </a:pPr>
            <a:r>
              <a:rPr lang="en-US" sz="105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%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4294632" y="1572768"/>
            <a:ext cx="1726692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4459224" y="1728216"/>
            <a:ext cx="100584" cy="100584"/>
          </a:xfrm>
          <a:prstGeom prst="ellipse">
            <a:avLst/>
          </a:prstGeom>
          <a:solidFill>
            <a:srgbClr val="2E56D0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4623816" y="1673352"/>
            <a:ext cx="12694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BATT POWER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587240" y="2066544"/>
            <a:ext cx="1342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E5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47.92</a:t>
            </a:r>
            <a:pPr algn="l" indent="0" marL="0">
              <a:buNone/>
            </a:pPr>
            <a:r>
              <a:rPr lang="en-US" sz="105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kW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6167628" y="1572768"/>
            <a:ext cx="1726692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6332220" y="1728216"/>
            <a:ext cx="100584" cy="100584"/>
          </a:xfrm>
          <a:prstGeom prst="ellipse">
            <a:avLst/>
          </a:prstGeom>
          <a:solidFill>
            <a:srgbClr val="2E56D0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6496812" y="1673352"/>
            <a:ext cx="12694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 POWER RMS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6460236" y="2066544"/>
            <a:ext cx="1342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E5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36.78</a:t>
            </a:r>
            <a:pPr algn="l" indent="0" marL="0">
              <a:buNone/>
            </a:pPr>
            <a:r>
              <a:rPr lang="en-US" sz="105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kW</a:t>
            </a:r>
            <a:endParaRPr lang="en-US" sz="2100" dirty="0"/>
          </a:p>
        </p:txBody>
      </p:sp>
      <p:sp>
        <p:nvSpPr>
          <p:cNvPr id="22" name="Shape 19"/>
          <p:cNvSpPr/>
          <p:nvPr/>
        </p:nvSpPr>
        <p:spPr>
          <a:xfrm>
            <a:off x="8040624" y="1572768"/>
            <a:ext cx="1726692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8205216" y="1728216"/>
            <a:ext cx="100584" cy="100584"/>
          </a:xfrm>
          <a:prstGeom prst="ellipse">
            <a:avLst/>
          </a:prstGeom>
          <a:solidFill>
            <a:srgbClr val="D98A2B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8369808" y="1673352"/>
            <a:ext cx="12694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HEATFLOW RMS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8333232" y="2066544"/>
            <a:ext cx="1342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3.64</a:t>
            </a:r>
            <a:pPr algn="l" indent="0" marL="0">
              <a:buNone/>
            </a:pPr>
            <a:r>
              <a:rPr lang="en-US" sz="105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kW</a:t>
            </a:r>
            <a:endParaRPr lang="en-US" sz="2100" dirty="0"/>
          </a:p>
        </p:txBody>
      </p:sp>
      <p:sp>
        <p:nvSpPr>
          <p:cNvPr id="26" name="Shape 23"/>
          <p:cNvSpPr/>
          <p:nvPr/>
        </p:nvSpPr>
        <p:spPr>
          <a:xfrm>
            <a:off x="9913620" y="1572768"/>
            <a:ext cx="1726692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10078212" y="1728216"/>
            <a:ext cx="100584" cy="100584"/>
          </a:xfrm>
          <a:prstGeom prst="ellipse">
            <a:avLst/>
          </a:prstGeom>
          <a:solidFill>
            <a:srgbClr val="D98A2B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10242804" y="1673352"/>
            <a:ext cx="12694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CAPACITY USED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10206228" y="2066544"/>
            <a:ext cx="1342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3.77</a:t>
            </a:r>
            <a:pPr algn="l" indent="0" marL="0">
              <a:buNone/>
            </a:pPr>
            <a:r>
              <a:rPr lang="en-US" sz="105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kWh</a:t>
            </a:r>
            <a:endParaRPr lang="en-US" sz="2100" dirty="0"/>
          </a:p>
        </p:txBody>
      </p:sp>
      <p:sp>
        <p:nvSpPr>
          <p:cNvPr id="30" name="Shape 27"/>
          <p:cNvSpPr/>
          <p:nvPr/>
        </p:nvSpPr>
        <p:spPr>
          <a:xfrm>
            <a:off x="548640" y="3144393"/>
            <a:ext cx="5436108" cy="2827782"/>
          </a:xfrm>
          <a:prstGeom prst="roundRect">
            <a:avLst>
              <a:gd name="adj" fmla="val 16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A15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32" name="Shape 28"/>
          <p:cNvSpPr/>
          <p:nvPr/>
        </p:nvSpPr>
        <p:spPr>
          <a:xfrm>
            <a:off x="6204204" y="3144393"/>
            <a:ext cx="5436108" cy="2827782"/>
          </a:xfrm>
          <a:prstGeom prst="roundRect">
            <a:avLst>
              <a:gd name="adj" fmla="val 16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A15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34" name="Text 29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VSM ENGINEERING</a:t>
            </a:r>
            <a:pPr indent="0" marL="0">
              <a:buNone/>
            </a:pPr>
            <a:r>
              <a:rPr lang="en-US" sz="850" spc="12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POST-PROCESSING TOOL  v1.3.0</a:t>
            </a:r>
            <a:endParaRPr lang="en-US" sz="850" dirty="0"/>
          </a:p>
        </p:txBody>
      </p:sp>
      <p:sp>
        <p:nvSpPr>
          <p:cNvPr id="35" name="Text 30"/>
          <p:cNvSpPr/>
          <p:nvPr/>
        </p:nvSpPr>
        <p:spPr>
          <a:xfrm>
            <a:off x="10058400" y="6419088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/  12</a:t>
            </a:r>
            <a:endParaRPr lang="en-US" sz="850" dirty="0"/>
          </a:p>
        </p:txBody>
      </p:sp>
      <p:pic>
        <p:nvPicPr>
          <p:cNvPr id="38" name="Picture 37" descr="astauto-light-text_web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09783" y="146304"/>
            <a:ext cx="1325880" cy="429135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3254121"/>
            <a:ext cx="5216652" cy="2608326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3932" y="3254121"/>
            <a:ext cx="5216652" cy="260832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85216" cy="585216"/>
          </a:xfrm>
          <a:prstGeom prst="ellipse">
            <a:avLst/>
          </a:prstGeom>
          <a:solidFill>
            <a:srgbClr val="2E56D0"/>
          </a:solidFill>
          <a:ln/>
          <a:effectLst>
            <a:outerShdw sx="100000" sy="100000" kx="0" ky="0" algn="bl" rotWithShape="0" blurRad="76200" dist="25400" dir="5400000">
              <a:srgbClr val="0A1524">
                <a:alpha val="25000"/>
              </a:srgbClr>
            </a:outerShdw>
          </a:effectLst>
        </p:spPr>
        <p:txBody>
          <a:bodyPr/>
          <a:p/>
        </p:txBody>
      </p:sp>
      <p:pic>
        <p:nvPicPr>
          <p:cNvPr id="3" name="Image 0" descr="assets/ic_recycl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12648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Battery Power &amp; Energy Recovery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344168" y="859536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/ discharge behaviour and released / recuperated energy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2101291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713232" y="1728216"/>
            <a:ext cx="100584" cy="100584"/>
          </a:xfrm>
          <a:prstGeom prst="ellipse">
            <a:avLst/>
          </a:prstGeom>
          <a:solidFill>
            <a:srgbClr val="2E56D0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77824" y="1673352"/>
            <a:ext cx="1644091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 POWER RMS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841248" y="2066544"/>
            <a:ext cx="17172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5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36.78</a:t>
            </a:r>
            <a:pPr algn="l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kW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796235" y="1572768"/>
            <a:ext cx="2101291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2960827" y="1728216"/>
            <a:ext cx="100584" cy="100584"/>
          </a:xfrm>
          <a:prstGeom prst="ellipse">
            <a:avLst/>
          </a:prstGeom>
          <a:solidFill>
            <a:srgbClr val="2E56D0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3125419" y="1673352"/>
            <a:ext cx="1644091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RELEASED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088843" y="2066544"/>
            <a:ext cx="17172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5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1.80</a:t>
            </a:r>
            <a:pPr algn="l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kWh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5043830" y="1572768"/>
            <a:ext cx="2101291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5208422" y="1728216"/>
            <a:ext cx="100584" cy="100584"/>
          </a:xfrm>
          <a:prstGeom prst="ellipse">
            <a:avLst/>
          </a:prstGeom>
          <a:solidFill>
            <a:srgbClr val="2E56D0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373014" y="1673352"/>
            <a:ext cx="1644091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RECOVERED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336438" y="2066544"/>
            <a:ext cx="17172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5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pPr algn="l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kWh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7291426" y="1572768"/>
            <a:ext cx="2101291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7456018" y="1728216"/>
            <a:ext cx="100584" cy="100584"/>
          </a:xfrm>
          <a:prstGeom prst="ellipse">
            <a:avLst/>
          </a:prstGeom>
          <a:solidFill>
            <a:srgbClr val="D98A2B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7620610" y="1673352"/>
            <a:ext cx="1644091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 ENERGY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7584034" y="2066544"/>
            <a:ext cx="17172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1.04</a:t>
            </a:r>
            <a:pPr algn="l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kWh</a:t>
            </a:r>
            <a:endParaRPr lang="en-US" sz="2200" dirty="0"/>
          </a:p>
        </p:txBody>
      </p:sp>
      <p:sp>
        <p:nvSpPr>
          <p:cNvPr id="22" name="Shape 19"/>
          <p:cNvSpPr/>
          <p:nvPr/>
        </p:nvSpPr>
        <p:spPr>
          <a:xfrm>
            <a:off x="9539021" y="1572768"/>
            <a:ext cx="2101291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9703613" y="1728216"/>
            <a:ext cx="100584" cy="100584"/>
          </a:xfrm>
          <a:prstGeom prst="ellipse">
            <a:avLst/>
          </a:prstGeom>
          <a:solidFill>
            <a:srgbClr val="2E56D0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9868205" y="1673352"/>
            <a:ext cx="1644091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BATT POWER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9831629" y="2066544"/>
            <a:ext cx="17172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5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47.92</a:t>
            </a:r>
            <a:pPr algn="l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kW</a:t>
            </a:r>
            <a:endParaRPr lang="en-US" sz="2200" dirty="0"/>
          </a:p>
        </p:txBody>
      </p:sp>
      <p:sp>
        <p:nvSpPr>
          <p:cNvPr id="26" name="Shape 23"/>
          <p:cNvSpPr/>
          <p:nvPr/>
        </p:nvSpPr>
        <p:spPr>
          <a:xfrm>
            <a:off x="548640" y="3144393"/>
            <a:ext cx="5436108" cy="2827782"/>
          </a:xfrm>
          <a:prstGeom prst="roundRect">
            <a:avLst>
              <a:gd name="adj" fmla="val 16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A15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8" name="Shape 24"/>
          <p:cNvSpPr/>
          <p:nvPr/>
        </p:nvSpPr>
        <p:spPr>
          <a:xfrm>
            <a:off x="6204204" y="3144393"/>
            <a:ext cx="5436108" cy="2827782"/>
          </a:xfrm>
          <a:prstGeom prst="roundRect">
            <a:avLst>
              <a:gd name="adj" fmla="val 16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A15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30" name="Text 25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VSM ENGINEERING</a:t>
            </a:r>
            <a:pPr indent="0" marL="0">
              <a:buNone/>
            </a:pPr>
            <a:r>
              <a:rPr lang="en-US" sz="850" spc="12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POST-PROCESSING TOOL  v1.3.0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10058400" y="6419088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/  12</a:t>
            </a:r>
            <a:endParaRPr lang="en-US" sz="850" dirty="0"/>
          </a:p>
        </p:txBody>
      </p:sp>
      <p:pic>
        <p:nvPicPr>
          <p:cNvPr id="34" name="Picture 33" descr="astauto-light-text_web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09783" y="146304"/>
            <a:ext cx="1325880" cy="42913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3254121"/>
            <a:ext cx="5216652" cy="2608326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3932" y="3254121"/>
            <a:ext cx="5216652" cy="260832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85216" cy="585216"/>
          </a:xfrm>
          <a:prstGeom prst="ellipse">
            <a:avLst/>
          </a:prstGeom>
          <a:solidFill>
            <a:srgbClr val="D98A2B"/>
          </a:solidFill>
          <a:ln/>
          <a:effectLst>
            <a:outerShdw sx="100000" sy="100000" kx="0" ky="0" algn="bl" rotWithShape="0" blurRad="76200" dist="25400" dir="5400000">
              <a:srgbClr val="0A1524">
                <a:alpha val="25000"/>
              </a:srgbClr>
            </a:outerShdw>
          </a:effectLst>
        </p:spPr>
        <p:txBody>
          <a:bodyPr/>
          <a:p/>
        </p:txBody>
      </p:sp>
      <p:pic>
        <p:nvPicPr>
          <p:cNvPr id="3" name="Image 0" descr="assets/ic_rang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12648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 Consumption &amp; Estimated Range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344168" y="859536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energy consumption and range indicators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726692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713232" y="1728216"/>
            <a:ext cx="100584" cy="100584"/>
          </a:xfrm>
          <a:prstGeom prst="ellipse">
            <a:avLst/>
          </a:prstGeom>
          <a:solidFill>
            <a:srgbClr val="D98A2B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77824" y="1673352"/>
            <a:ext cx="12694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CAPACITY USED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841248" y="2066544"/>
            <a:ext cx="1342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3.77</a:t>
            </a:r>
            <a:pPr algn="l" indent="0" marL="0">
              <a:buNone/>
            </a:pPr>
            <a:r>
              <a:rPr lang="en-US" sz="105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kWh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2421636" y="1572768"/>
            <a:ext cx="1726692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2586228" y="1728216"/>
            <a:ext cx="100584" cy="100584"/>
          </a:xfrm>
          <a:prstGeom prst="ellipse">
            <a:avLst/>
          </a:prstGeom>
          <a:solidFill>
            <a:srgbClr val="D98A2B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2750820" y="1673352"/>
            <a:ext cx="12694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CONSUMPTION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2714244" y="2066544"/>
            <a:ext cx="1342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3,778.1</a:t>
            </a:r>
            <a:pPr algn="l" indent="0" marL="0">
              <a:buNone/>
            </a:pPr>
            <a:r>
              <a:rPr lang="en-US" sz="105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Wh/km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4294632" y="1572768"/>
            <a:ext cx="1726692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4459224" y="1728216"/>
            <a:ext cx="100584" cy="100584"/>
          </a:xfrm>
          <a:prstGeom prst="ellipse">
            <a:avLst/>
          </a:prstGeom>
          <a:solidFill>
            <a:srgbClr val="D98A2B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4623816" y="1673352"/>
            <a:ext cx="12694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@ 85%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587240" y="2066544"/>
            <a:ext cx="1342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11.25</a:t>
            </a:r>
            <a:pPr algn="l" indent="0" marL="0">
              <a:buNone/>
            </a:pPr>
            <a:r>
              <a:rPr lang="en-US" sz="105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km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6167628" y="1572768"/>
            <a:ext cx="1726692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6332220" y="1728216"/>
            <a:ext cx="100584" cy="100584"/>
          </a:xfrm>
          <a:prstGeom prst="ellipse">
            <a:avLst/>
          </a:prstGeom>
          <a:solidFill>
            <a:srgbClr val="2E56D0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6496812" y="1673352"/>
            <a:ext cx="12694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BATTERY SOC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6460236" y="2066544"/>
            <a:ext cx="1342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E5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72.45</a:t>
            </a:r>
            <a:pPr algn="l" indent="0" marL="0">
              <a:buNone/>
            </a:pPr>
            <a:r>
              <a:rPr lang="en-US" sz="105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%</a:t>
            </a:r>
            <a:endParaRPr lang="en-US" sz="2100" dirty="0"/>
          </a:p>
        </p:txBody>
      </p:sp>
      <p:sp>
        <p:nvSpPr>
          <p:cNvPr id="22" name="Shape 19"/>
          <p:cNvSpPr/>
          <p:nvPr/>
        </p:nvSpPr>
        <p:spPr>
          <a:xfrm>
            <a:off x="8040624" y="1572768"/>
            <a:ext cx="1726692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8205216" y="1728216"/>
            <a:ext cx="100584" cy="100584"/>
          </a:xfrm>
          <a:prstGeom prst="ellipse">
            <a:avLst/>
          </a:prstGeom>
          <a:solidFill>
            <a:srgbClr val="2E56D0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8369808" y="1673352"/>
            <a:ext cx="12694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BATT POWER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8333232" y="2066544"/>
            <a:ext cx="1342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E5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47.92</a:t>
            </a:r>
            <a:pPr algn="l" indent="0" marL="0">
              <a:buNone/>
            </a:pPr>
            <a:r>
              <a:rPr lang="en-US" sz="105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kW</a:t>
            </a:r>
            <a:endParaRPr lang="en-US" sz="2100" dirty="0"/>
          </a:p>
        </p:txBody>
      </p:sp>
      <p:sp>
        <p:nvSpPr>
          <p:cNvPr id="26" name="Shape 23"/>
          <p:cNvSpPr/>
          <p:nvPr/>
        </p:nvSpPr>
        <p:spPr>
          <a:xfrm>
            <a:off x="9913620" y="1572768"/>
            <a:ext cx="1726692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10078212" y="1728216"/>
            <a:ext cx="100584" cy="100584"/>
          </a:xfrm>
          <a:prstGeom prst="ellipse">
            <a:avLst/>
          </a:prstGeom>
          <a:solidFill>
            <a:srgbClr val="D98A2B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10242804" y="1673352"/>
            <a:ext cx="12694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 ENERGY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10206228" y="2066544"/>
            <a:ext cx="1342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1.04</a:t>
            </a:r>
            <a:pPr algn="l" indent="0" marL="0">
              <a:buNone/>
            </a:pPr>
            <a:r>
              <a:rPr lang="en-US" sz="105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kWh</a:t>
            </a:r>
            <a:endParaRPr lang="en-US" sz="2100" dirty="0"/>
          </a:p>
        </p:txBody>
      </p:sp>
      <p:sp>
        <p:nvSpPr>
          <p:cNvPr id="30" name="Shape 27"/>
          <p:cNvSpPr/>
          <p:nvPr/>
        </p:nvSpPr>
        <p:spPr>
          <a:xfrm>
            <a:off x="548640" y="2929509"/>
            <a:ext cx="5436108" cy="2827782"/>
          </a:xfrm>
          <a:prstGeom prst="roundRect">
            <a:avLst>
              <a:gd name="adj" fmla="val 16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A15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32" name="Shape 28"/>
          <p:cNvSpPr/>
          <p:nvPr/>
        </p:nvSpPr>
        <p:spPr>
          <a:xfrm>
            <a:off x="6204204" y="2929509"/>
            <a:ext cx="5436108" cy="2827782"/>
          </a:xfrm>
          <a:prstGeom prst="roundRect">
            <a:avLst>
              <a:gd name="adj" fmla="val 16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A15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34" name="Shape 29"/>
          <p:cNvSpPr/>
          <p:nvPr/>
        </p:nvSpPr>
        <p:spPr>
          <a:xfrm>
            <a:off x="548640" y="5998464"/>
            <a:ext cx="11091672" cy="329184"/>
          </a:xfrm>
          <a:prstGeom prst="roundRect">
            <a:avLst>
              <a:gd name="adj" fmla="val 13889"/>
            </a:avLst>
          </a:prstGeom>
          <a:solidFill>
            <a:srgbClr val="FBF1E3"/>
          </a:solidFill>
          <a:ln w="12700">
            <a:solidFill>
              <a:srgbClr val="F0D9B8"/>
            </a:solidFill>
            <a:prstDash val="solid"/>
          </a:ln>
        </p:spPr>
        <p:txBody>
          <a:bodyPr/>
          <a:p/>
        </p:txBody>
      </p:sp>
      <p:sp>
        <p:nvSpPr>
          <p:cNvPr id="35" name="Shape 30"/>
          <p:cNvSpPr/>
          <p:nvPr/>
        </p:nvSpPr>
        <p:spPr>
          <a:xfrm>
            <a:off x="731520" y="6080760"/>
            <a:ext cx="164592" cy="164592"/>
          </a:xfrm>
          <a:prstGeom prst="ellipse">
            <a:avLst/>
          </a:prstGeom>
          <a:solidFill>
            <a:srgbClr val="D98A2B"/>
          </a:solidFill>
          <a:ln/>
        </p:spPr>
        <p:txBody>
          <a:bodyPr/>
          <a:p/>
        </p:txBody>
      </p:sp>
      <p:sp>
        <p:nvSpPr>
          <p:cNvPr id="36" name="Text 31"/>
          <p:cNvSpPr/>
          <p:nvPr/>
        </p:nvSpPr>
        <p:spPr>
          <a:xfrm>
            <a:off x="1024128" y="5998464"/>
            <a:ext cx="10424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5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and consumption are deterministic profile KPI outputs.</a:t>
            </a:r>
            <a:endParaRPr lang="en-US" sz="1100" dirty="0"/>
          </a:p>
        </p:txBody>
      </p:sp>
      <p:sp>
        <p:nvSpPr>
          <p:cNvPr id="37" name="Text 32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VSM ENGINEERING</a:t>
            </a:r>
            <a:pPr indent="0" marL="0">
              <a:buNone/>
            </a:pPr>
            <a:r>
              <a:rPr lang="en-US" sz="850" spc="12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POST-PROCESSING TOOL  v1.3.0</a:t>
            </a:r>
            <a:endParaRPr lang="en-US" sz="850" dirty="0"/>
          </a:p>
        </p:txBody>
      </p:sp>
      <p:sp>
        <p:nvSpPr>
          <p:cNvPr id="38" name="Text 33"/>
          <p:cNvSpPr/>
          <p:nvPr/>
        </p:nvSpPr>
        <p:spPr>
          <a:xfrm>
            <a:off x="10058400" y="6419088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/  12</a:t>
            </a:r>
            <a:endParaRPr lang="en-US" sz="850" dirty="0"/>
          </a:p>
        </p:txBody>
      </p:sp>
      <p:pic>
        <p:nvPicPr>
          <p:cNvPr id="41" name="Picture 40" descr="astauto-light-text_web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09783" y="146304"/>
            <a:ext cx="1325880" cy="429135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3039237"/>
            <a:ext cx="5216652" cy="2608326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3932" y="3039237"/>
            <a:ext cx="5216652" cy="260832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85216" cy="585216"/>
          </a:xfrm>
          <a:prstGeom prst="ellipse">
            <a:avLst/>
          </a:prstGeom>
          <a:solidFill>
            <a:srgbClr val="2E56D0"/>
          </a:solidFill>
          <a:ln/>
          <a:effectLst>
            <a:outerShdw sx="100000" sy="100000" kx="0" ky="0" algn="bl" rotWithShape="0" blurRad="76200" dist="25400" dir="5400000">
              <a:srgbClr val="0A1524">
                <a:alpha val="25000"/>
              </a:srgbClr>
            </a:outerShdw>
          </a:effectLst>
        </p:spPr>
        <p:txBody>
          <a:bodyPr/>
          <a:p/>
        </p:txBody>
      </p:sp>
      <p:pic>
        <p:nvPicPr>
          <p:cNvPr id="3" name="Image 0" descr="assets/ic_droplet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12648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Agrochemical &amp; Battery Behaviour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344168" y="859536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Profile-supported system interaction from the active source data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2663190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713232" y="1728216"/>
            <a:ext cx="100584" cy="100584"/>
          </a:xfrm>
          <a:prstGeom prst="ellipse">
            <a:avLst/>
          </a:prstGeom>
          <a:solidFill>
            <a:srgbClr val="5C6B82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77824" y="1673352"/>
            <a:ext cx="220599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 DISCHARGE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841248" y="1938528"/>
            <a:ext cx="22791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499.83</a:t>
            </a:r>
            <a:pPr algn="l" indent="0" marL="0">
              <a:buNone/>
            </a:pPr>
            <a:r>
              <a:rPr lang="en-US" sz="12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kg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3358134" y="1572768"/>
            <a:ext cx="2663190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3522726" y="1728216"/>
            <a:ext cx="100584" cy="100584"/>
          </a:xfrm>
          <a:prstGeom prst="ellipse">
            <a:avLst/>
          </a:prstGeom>
          <a:solidFill>
            <a:srgbClr val="2E56D0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3687318" y="1673352"/>
            <a:ext cx="220599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BATTERY SOC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650742" y="1938528"/>
            <a:ext cx="22791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5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72.45</a:t>
            </a:r>
            <a:pPr algn="l" indent="0" marL="0">
              <a:buNone/>
            </a:pPr>
            <a:r>
              <a:rPr lang="en-US" sz="12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%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6167628" y="1572768"/>
            <a:ext cx="2663190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6332220" y="1728216"/>
            <a:ext cx="100584" cy="100584"/>
          </a:xfrm>
          <a:prstGeom prst="ellipse">
            <a:avLst/>
          </a:prstGeom>
          <a:solidFill>
            <a:srgbClr val="D98A2B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496812" y="1673352"/>
            <a:ext cx="220599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CAPACITY USED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460236" y="1938528"/>
            <a:ext cx="22791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3.77</a:t>
            </a:r>
            <a:pPr algn="l" indent="0" marL="0">
              <a:buNone/>
            </a:pPr>
            <a:r>
              <a:rPr lang="en-US" sz="12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kWh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8977122" y="1572768"/>
            <a:ext cx="2663190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9141714" y="1728216"/>
            <a:ext cx="100584" cy="100584"/>
          </a:xfrm>
          <a:prstGeom prst="ellipse">
            <a:avLst/>
          </a:prstGeom>
          <a:solidFill>
            <a:srgbClr val="5C6B82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9306306" y="1673352"/>
            <a:ext cx="220599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CYCLE TIME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9269730" y="1938528"/>
            <a:ext cx="22791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5.77</a:t>
            </a:r>
            <a:pPr algn="l" indent="0" marL="0">
              <a:buNone/>
            </a:pPr>
            <a:r>
              <a:rPr lang="en-US" sz="12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min</a:t>
            </a:r>
            <a:endParaRPr lang="en-US" sz="2400" dirty="0"/>
          </a:p>
        </p:txBody>
      </p:sp>
      <p:sp>
        <p:nvSpPr>
          <p:cNvPr id="22" name="Shape 19"/>
          <p:cNvSpPr/>
          <p:nvPr/>
        </p:nvSpPr>
        <p:spPr>
          <a:xfrm>
            <a:off x="548640" y="3144393"/>
            <a:ext cx="5436108" cy="2827782"/>
          </a:xfrm>
          <a:prstGeom prst="roundRect">
            <a:avLst>
              <a:gd name="adj" fmla="val 16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A15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4" name="Shape 20"/>
          <p:cNvSpPr/>
          <p:nvPr/>
        </p:nvSpPr>
        <p:spPr>
          <a:xfrm>
            <a:off x="6204204" y="3144393"/>
            <a:ext cx="5436108" cy="2827782"/>
          </a:xfrm>
          <a:prstGeom prst="roundRect">
            <a:avLst>
              <a:gd name="adj" fmla="val 16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A15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6" name="Text 21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VSM ENGINEERING</a:t>
            </a:r>
            <a:pPr indent="0" marL="0">
              <a:buNone/>
            </a:pPr>
            <a:r>
              <a:rPr lang="en-US" sz="850" spc="12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POST-PROCESSING TOOL  v1.3.0</a:t>
            </a:r>
            <a:endParaRPr lang="en-US" sz="850" dirty="0"/>
          </a:p>
        </p:txBody>
      </p:sp>
      <p:sp>
        <p:nvSpPr>
          <p:cNvPr id="27" name="Text 22"/>
          <p:cNvSpPr/>
          <p:nvPr/>
        </p:nvSpPr>
        <p:spPr>
          <a:xfrm>
            <a:off x="10058400" y="6419088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/  12</a:t>
            </a:r>
            <a:endParaRPr lang="en-US" sz="850" dirty="0"/>
          </a:p>
        </p:txBody>
      </p:sp>
      <p:pic>
        <p:nvPicPr>
          <p:cNvPr id="30" name="Picture 29" descr="astauto-light-text_web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09783" y="146304"/>
            <a:ext cx="1325880" cy="42913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3254121"/>
            <a:ext cx="5216652" cy="2608326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3932" y="3254121"/>
            <a:ext cx="5216652" cy="260832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85216" cy="585216"/>
          </a:xfrm>
          <a:prstGeom prst="ellipse">
            <a:avLst/>
          </a:prstGeom>
          <a:solidFill>
            <a:srgbClr val="2E56D0"/>
          </a:solidFill>
          <a:ln/>
          <a:effectLst>
            <a:outerShdw sx="100000" sy="100000" kx="0" ky="0" algn="bl" rotWithShape="0" blurRad="76200" dist="25400" dir="5400000">
              <a:srgbClr val="0A1524">
                <a:alpha val="25000"/>
              </a:srgbClr>
            </a:outerShdw>
          </a:effectLst>
        </p:spPr>
        <p:txBody>
          <a:bodyPr/>
          <a:p/>
        </p:txBody>
      </p:sp>
      <p:pic>
        <p:nvPicPr>
          <p:cNvPr id="3" name="Image 0" descr="assets/ic_gearbox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12648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Traction, EDU &amp; Auxiliary Energy Demand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344168" y="859536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Wheel, EDU, tyre and auxiliary demand from profile plots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726692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713232" y="1728216"/>
            <a:ext cx="100584" cy="100584"/>
          </a:xfrm>
          <a:prstGeom prst="ellipse">
            <a:avLst/>
          </a:prstGeom>
          <a:solidFill>
            <a:srgbClr val="2E56D0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77824" y="1673352"/>
            <a:ext cx="12694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 MAX POWER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841248" y="2066544"/>
            <a:ext cx="1342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E5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6.33</a:t>
            </a:r>
            <a:pPr algn="l" indent="0" marL="0">
              <a:buNone/>
            </a:pPr>
            <a:r>
              <a:rPr lang="en-US" sz="105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kW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2421636" y="1572768"/>
            <a:ext cx="1726692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2586228" y="1728216"/>
            <a:ext cx="100584" cy="100584"/>
          </a:xfrm>
          <a:prstGeom prst="ellipse">
            <a:avLst/>
          </a:prstGeom>
          <a:solidFill>
            <a:srgbClr val="5C6B82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2750820" y="1673352"/>
            <a:ext cx="12694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 MAX POWER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2714244" y="2066544"/>
            <a:ext cx="1342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pPr algn="l" indent="0" marL="0">
              <a:buNone/>
            </a:pPr>
            <a:r>
              <a:rPr lang="en-US" sz="105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kW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4294632" y="1572768"/>
            <a:ext cx="1726692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4459224" y="1728216"/>
            <a:ext cx="100584" cy="100584"/>
          </a:xfrm>
          <a:prstGeom prst="ellipse">
            <a:avLst/>
          </a:prstGeom>
          <a:solidFill>
            <a:srgbClr val="2E56D0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4623816" y="1673352"/>
            <a:ext cx="12694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 MAX SPEED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587240" y="2066544"/>
            <a:ext cx="1342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E5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pPr algn="l" indent="0" marL="0">
              <a:buNone/>
            </a:pPr>
            <a:r>
              <a:rPr lang="en-US" sz="105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rpm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6167628" y="1572768"/>
            <a:ext cx="1726692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6332220" y="1728216"/>
            <a:ext cx="100584" cy="100584"/>
          </a:xfrm>
          <a:prstGeom prst="ellipse">
            <a:avLst/>
          </a:prstGeom>
          <a:solidFill>
            <a:srgbClr val="2E56D0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6496812" y="1673352"/>
            <a:ext cx="12694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 MAX TORQUE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6460236" y="2066544"/>
            <a:ext cx="1342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E5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1,420.9</a:t>
            </a:r>
            <a:pPr algn="l" indent="0" marL="0">
              <a:buNone/>
            </a:pPr>
            <a:r>
              <a:rPr lang="en-US" sz="105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Nm</a:t>
            </a:r>
            <a:endParaRPr lang="en-US" sz="2100" dirty="0"/>
          </a:p>
        </p:txBody>
      </p:sp>
      <p:sp>
        <p:nvSpPr>
          <p:cNvPr id="22" name="Shape 19"/>
          <p:cNvSpPr/>
          <p:nvPr/>
        </p:nvSpPr>
        <p:spPr>
          <a:xfrm>
            <a:off x="8040624" y="1572768"/>
            <a:ext cx="1726692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8205216" y="1728216"/>
            <a:ext cx="100584" cy="100584"/>
          </a:xfrm>
          <a:prstGeom prst="ellipse">
            <a:avLst/>
          </a:prstGeom>
          <a:solidFill>
            <a:srgbClr val="D98A2B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8369808" y="1673352"/>
            <a:ext cx="12694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TYRE RR ENERGY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8333232" y="2066544"/>
            <a:ext cx="1342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1.24</a:t>
            </a:r>
            <a:pPr algn="l" indent="0" marL="0">
              <a:buNone/>
            </a:pPr>
            <a:r>
              <a:rPr lang="en-US" sz="105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kWh</a:t>
            </a:r>
            <a:endParaRPr lang="en-US" sz="2100" dirty="0"/>
          </a:p>
        </p:txBody>
      </p:sp>
      <p:sp>
        <p:nvSpPr>
          <p:cNvPr id="26" name="Shape 23"/>
          <p:cNvSpPr/>
          <p:nvPr/>
        </p:nvSpPr>
        <p:spPr>
          <a:xfrm>
            <a:off x="9913620" y="1572768"/>
            <a:ext cx="1726692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10078212" y="1728216"/>
            <a:ext cx="100584" cy="100584"/>
          </a:xfrm>
          <a:prstGeom prst="ellipse">
            <a:avLst/>
          </a:prstGeom>
          <a:solidFill>
            <a:srgbClr val="D98A2B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10242804" y="1673352"/>
            <a:ext cx="12694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 ENERGY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10206228" y="2066544"/>
            <a:ext cx="1342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1.04</a:t>
            </a:r>
            <a:pPr algn="l" indent="0" marL="0">
              <a:buNone/>
            </a:pPr>
            <a:r>
              <a:rPr lang="en-US" sz="105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kWh</a:t>
            </a:r>
            <a:endParaRPr lang="en-US" sz="2100" dirty="0"/>
          </a:p>
        </p:txBody>
      </p:sp>
      <p:sp>
        <p:nvSpPr>
          <p:cNvPr id="30" name="Shape 27"/>
          <p:cNvSpPr/>
          <p:nvPr/>
        </p:nvSpPr>
        <p:spPr>
          <a:xfrm>
            <a:off x="548640" y="3144393"/>
            <a:ext cx="5436108" cy="2827782"/>
          </a:xfrm>
          <a:prstGeom prst="roundRect">
            <a:avLst>
              <a:gd name="adj" fmla="val 16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A15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32" name="Shape 28"/>
          <p:cNvSpPr/>
          <p:nvPr/>
        </p:nvSpPr>
        <p:spPr>
          <a:xfrm>
            <a:off x="6204204" y="3144393"/>
            <a:ext cx="5436108" cy="2827782"/>
          </a:xfrm>
          <a:prstGeom prst="roundRect">
            <a:avLst>
              <a:gd name="adj" fmla="val 16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A15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34" name="Text 29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VSM ENGINEERING</a:t>
            </a:r>
            <a:pPr indent="0" marL="0">
              <a:buNone/>
            </a:pPr>
            <a:r>
              <a:rPr lang="en-US" sz="850" spc="12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POST-PROCESSING TOOL  v1.3.0</a:t>
            </a:r>
            <a:endParaRPr lang="en-US" sz="850" dirty="0"/>
          </a:p>
        </p:txBody>
      </p:sp>
      <p:sp>
        <p:nvSpPr>
          <p:cNvPr id="35" name="Text 30"/>
          <p:cNvSpPr/>
          <p:nvPr/>
        </p:nvSpPr>
        <p:spPr>
          <a:xfrm>
            <a:off x="10058400" y="6419088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/  12</a:t>
            </a:r>
            <a:endParaRPr lang="en-US" sz="850" dirty="0"/>
          </a:p>
        </p:txBody>
      </p:sp>
      <p:pic>
        <p:nvPicPr>
          <p:cNvPr id="38" name="Picture 37" descr="astauto-light-text_web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09783" y="146304"/>
            <a:ext cx="1325880" cy="429135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3254121"/>
            <a:ext cx="5216652" cy="2608326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3932" y="3254121"/>
            <a:ext cx="5216652" cy="260832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85216" cy="585216"/>
          </a:xfrm>
          <a:prstGeom prst="ellipse">
            <a:avLst/>
          </a:prstGeom>
          <a:solidFill>
            <a:srgbClr val="2E56D0"/>
          </a:solidFill>
          <a:ln/>
          <a:effectLst>
            <a:outerShdw sx="100000" sy="100000" kx="0" ky="0" algn="bl" rotWithShape="0" blurRad="76200" dist="25400" dir="5400000">
              <a:srgbClr val="0A1524">
                <a:alpha val="25000"/>
              </a:srgbClr>
            </a:outerShdw>
          </a:effectLst>
        </p:spPr>
        <p:txBody>
          <a:bodyPr/>
          <a:p/>
        </p:txBody>
      </p:sp>
      <p:pic>
        <p:nvPicPr>
          <p:cNvPr id="3" name="Image 0" descr="assets/ic_summary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12648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 Summary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344168" y="859536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profile result snapshot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B4CE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 km</a:t>
            </a:r>
            <a:pPr indent="0" marL="0">
              <a:buNone/>
            </a:pPr>
            <a:r>
              <a:rPr lang="en-US" sz="2300" dirty="0">
                <a:solidFill>
                  <a:srgbClr val="9DB4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covered   ·   SOC  </a:t>
            </a:r>
            <a:pPr indent="0" marL="0">
              <a:buNone/>
            </a:pPr>
            <a:r>
              <a:rPr lang="en-US" sz="2300" b="1" dirty="0">
                <a:solidFill>
                  <a:srgbClr val="7FA6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72.45 %</a:t>
            </a:r>
            <a:pPr indent="0" marL="0">
              <a:buNone/>
            </a:pPr>
            <a:r>
              <a:rPr lang="en-US" sz="2300" dirty="0">
                <a:solidFill>
                  <a:srgbClr val="9DB4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·   consumption  </a:t>
            </a:r>
            <a:pPr indent="0" marL="0">
              <a:buNone/>
            </a:pPr>
            <a:r>
              <a:rPr lang="en-US" sz="2300" b="1" dirty="0">
                <a:solidFill>
                  <a:srgbClr val="F0B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3,778.1 Wh/km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548640" y="21488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FA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SUMMARY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2487168"/>
            <a:ext cx="110642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2E5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B4C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run covered 1.00 km in 5.77 min.</a:t>
            </a:r>
            <a:endParaRPr lang="en-US" sz="1250" dirty="0"/>
          </a:p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2E5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B4C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battery SOC is 72.45 % from an 80.00 % initial state.</a:t>
            </a:r>
            <a:endParaRPr lang="en-US" sz="1250" dirty="0"/>
          </a:p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2E5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B4C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capacity used is 3.77 kWh; estimated range for 85% battery is 11.25 km.</a:t>
            </a:r>
            <a:endParaRPr lang="en-US" sz="1250" dirty="0"/>
          </a:p>
          <a:p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2E5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B4C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deterministic simulation outputs; acceptance conclusions require explicit engineering criteria.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5029200"/>
            <a:ext cx="1726692" cy="1133856"/>
          </a:xfrm>
          <a:prstGeom prst="roundRect">
            <a:avLst>
              <a:gd name="adj" fmla="val 5645"/>
            </a:avLst>
          </a:prstGeom>
          <a:solidFill>
            <a:srgbClr val="17246E"/>
          </a:solidFill>
          <a:ln w="12700">
            <a:solidFill>
              <a:srgbClr val="3446A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713232" y="5184648"/>
            <a:ext cx="100584" cy="100584"/>
          </a:xfrm>
          <a:prstGeom prst="ellipse">
            <a:avLst/>
          </a:prstGeom>
          <a:solidFill>
            <a:srgbClr val="9DB4D6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877824" y="5129784"/>
            <a:ext cx="12694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841248" y="5486400"/>
            <a:ext cx="1342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B4C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pPr algn="l" indent="0" marL="0">
              <a:buNone/>
            </a:pPr>
            <a:r>
              <a:rPr lang="en-US" sz="950" b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km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2421636" y="5029200"/>
            <a:ext cx="1726692" cy="1133856"/>
          </a:xfrm>
          <a:prstGeom prst="roundRect">
            <a:avLst>
              <a:gd name="adj" fmla="val 5645"/>
            </a:avLst>
          </a:prstGeom>
          <a:solidFill>
            <a:srgbClr val="17246E"/>
          </a:solidFill>
          <a:ln w="12700">
            <a:solidFill>
              <a:srgbClr val="3446A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2586228" y="5184648"/>
            <a:ext cx="100584" cy="100584"/>
          </a:xfrm>
          <a:prstGeom prst="ellipse">
            <a:avLst/>
          </a:prstGeom>
          <a:solidFill>
            <a:srgbClr val="9DB4D6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2750820" y="5129784"/>
            <a:ext cx="12694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CYCLE TIME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714244" y="5486400"/>
            <a:ext cx="1342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B4C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5.77</a:t>
            </a:r>
            <a:pPr algn="l" indent="0" marL="0">
              <a:buNone/>
            </a:pPr>
            <a:r>
              <a:rPr lang="en-US" sz="950" b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min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4294632" y="5029200"/>
            <a:ext cx="1726692" cy="1133856"/>
          </a:xfrm>
          <a:prstGeom prst="roundRect">
            <a:avLst>
              <a:gd name="adj" fmla="val 5645"/>
            </a:avLst>
          </a:prstGeom>
          <a:solidFill>
            <a:srgbClr val="17246E"/>
          </a:solidFill>
          <a:ln w="12700">
            <a:solidFill>
              <a:srgbClr val="3446A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4459224" y="5184648"/>
            <a:ext cx="100584" cy="100584"/>
          </a:xfrm>
          <a:prstGeom prst="ellipse">
            <a:avLst/>
          </a:prstGeom>
          <a:solidFill>
            <a:srgbClr val="7FA6EF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4623816" y="5129784"/>
            <a:ext cx="12694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BATTERY SOC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587240" y="5486400"/>
            <a:ext cx="1342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7FA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72.45</a:t>
            </a:r>
            <a:pPr algn="l" indent="0" marL="0">
              <a:buNone/>
            </a:pPr>
            <a:r>
              <a:rPr lang="en-US" sz="950" b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%</a:t>
            </a:r>
            <a:endParaRPr lang="en-US" sz="1900" dirty="0"/>
          </a:p>
        </p:txBody>
      </p:sp>
      <p:sp>
        <p:nvSpPr>
          <p:cNvPr id="21" name="Shape 18"/>
          <p:cNvSpPr/>
          <p:nvPr/>
        </p:nvSpPr>
        <p:spPr>
          <a:xfrm>
            <a:off x="6167628" y="5029200"/>
            <a:ext cx="1726692" cy="1133856"/>
          </a:xfrm>
          <a:prstGeom prst="roundRect">
            <a:avLst>
              <a:gd name="adj" fmla="val 5645"/>
            </a:avLst>
          </a:prstGeom>
          <a:solidFill>
            <a:srgbClr val="17246E"/>
          </a:solidFill>
          <a:ln w="12700">
            <a:solidFill>
              <a:srgbClr val="3446A0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6332220" y="5184648"/>
            <a:ext cx="100584" cy="100584"/>
          </a:xfrm>
          <a:prstGeom prst="ellipse">
            <a:avLst/>
          </a:prstGeom>
          <a:solidFill>
            <a:srgbClr val="F0B25A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6496812" y="5129784"/>
            <a:ext cx="12694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CAPACITY USED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460236" y="5486400"/>
            <a:ext cx="1342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0B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3.77</a:t>
            </a:r>
            <a:pPr algn="l" indent="0" marL="0">
              <a:buNone/>
            </a:pPr>
            <a:r>
              <a:rPr lang="en-US" sz="950" b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kWh</a:t>
            </a:r>
            <a:endParaRPr lang="en-US" sz="1900" dirty="0"/>
          </a:p>
        </p:txBody>
      </p:sp>
      <p:sp>
        <p:nvSpPr>
          <p:cNvPr id="25" name="Shape 22"/>
          <p:cNvSpPr/>
          <p:nvPr/>
        </p:nvSpPr>
        <p:spPr>
          <a:xfrm>
            <a:off x="8040624" y="5029200"/>
            <a:ext cx="1726692" cy="1133856"/>
          </a:xfrm>
          <a:prstGeom prst="roundRect">
            <a:avLst>
              <a:gd name="adj" fmla="val 5645"/>
            </a:avLst>
          </a:prstGeom>
          <a:solidFill>
            <a:srgbClr val="17246E"/>
          </a:solidFill>
          <a:ln w="12700">
            <a:solidFill>
              <a:srgbClr val="3446A0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8205216" y="5184648"/>
            <a:ext cx="100584" cy="100584"/>
          </a:xfrm>
          <a:prstGeom prst="ellipse">
            <a:avLst/>
          </a:prstGeom>
          <a:solidFill>
            <a:srgbClr val="F0B25A"/>
          </a:solidFill>
          <a:ln/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8369808" y="5129784"/>
            <a:ext cx="12694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CONSUMPTION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8333232" y="5486400"/>
            <a:ext cx="1342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0B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3,778.1</a:t>
            </a:r>
            <a:pPr algn="l" indent="0" marL="0">
              <a:buNone/>
            </a:pPr>
            <a:r>
              <a:rPr lang="en-US" sz="950" b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Wh/km</a:t>
            </a:r>
            <a:endParaRPr lang="en-US" sz="1900" dirty="0"/>
          </a:p>
        </p:txBody>
      </p:sp>
      <p:sp>
        <p:nvSpPr>
          <p:cNvPr id="29" name="Shape 26"/>
          <p:cNvSpPr/>
          <p:nvPr/>
        </p:nvSpPr>
        <p:spPr>
          <a:xfrm>
            <a:off x="9913620" y="5029200"/>
            <a:ext cx="1726692" cy="1133856"/>
          </a:xfrm>
          <a:prstGeom prst="roundRect">
            <a:avLst>
              <a:gd name="adj" fmla="val 5645"/>
            </a:avLst>
          </a:prstGeom>
          <a:solidFill>
            <a:srgbClr val="17246E"/>
          </a:solidFill>
          <a:ln w="12700">
            <a:solidFill>
              <a:srgbClr val="3446A0"/>
            </a:solidFill>
            <a:prstDash val="solid"/>
          </a:ln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>
            <a:off x="10078212" y="5184648"/>
            <a:ext cx="100584" cy="100584"/>
          </a:xfrm>
          <a:prstGeom prst="ellipse">
            <a:avLst/>
          </a:prstGeom>
          <a:solidFill>
            <a:srgbClr val="F0B25A"/>
          </a:solidFill>
          <a:ln/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10242804" y="5129784"/>
            <a:ext cx="12694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5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@ 85%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10206228" y="5486400"/>
            <a:ext cx="1342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0B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11.25</a:t>
            </a:r>
            <a:pPr algn="l" indent="0" marL="0">
              <a:buNone/>
            </a:pPr>
            <a:r>
              <a:rPr lang="en-US" sz="950" b="1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km</a:t>
            </a:r>
            <a:endParaRPr lang="en-US" sz="1900" dirty="0"/>
          </a:p>
        </p:txBody>
      </p:sp>
      <p:sp>
        <p:nvSpPr>
          <p:cNvPr id="33" name="Text 30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B4C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VSM ENGINEERING</a:t>
            </a:r>
            <a:pPr indent="0" marL="0">
              <a:buNone/>
            </a:pPr>
            <a:r>
              <a:rPr lang="en-US" sz="850" spc="12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POST-PROCESSING TOOL  v1.3.0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10058400" y="6419088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/  12</a:t>
            </a:r>
            <a:endParaRPr lang="en-US" sz="850" dirty="0"/>
          </a:p>
        </p:txBody>
      </p:sp>
      <p:pic>
        <p:nvPicPr>
          <p:cNvPr id="35" name="Picture 34" descr="astauto-light-text_web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9783" y="146304"/>
            <a:ext cx="1325880" cy="42913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85216" cy="585216"/>
          </a:xfrm>
          <a:prstGeom prst="ellipse">
            <a:avLst/>
          </a:prstGeom>
          <a:solidFill>
            <a:srgbClr val="2E56D0"/>
          </a:solidFill>
          <a:ln/>
          <a:effectLst>
            <a:outerShdw sx="100000" sy="100000" kx="0" ky="0" algn="bl" rotWithShape="0" blurRad="76200" dist="25400" dir="5400000">
              <a:srgbClr val="0A1524">
                <a:alpha val="25000"/>
              </a:srgbClr>
            </a:outerShdw>
          </a:effectLst>
        </p:spPr>
      </p:sp>
      <p:pic>
        <p:nvPicPr>
          <p:cNvPr id="3" name="Image 0" descr="assets/ic_r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12648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1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 Profile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344168" y="859536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height and road gradient over the drive cycle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728216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13232" y="1728216"/>
            <a:ext cx="100584" cy="100584"/>
          </a:xfrm>
          <a:prstGeom prst="ellipse">
            <a:avLst/>
          </a:prstGeom>
          <a:solidFill>
            <a:srgbClr val="2E56D0"/>
          </a:solidFill>
          <a:ln/>
        </p:spPr>
      </p:sp>
      <p:sp>
        <p:nvSpPr>
          <p:cNvPr id="8" name="Text 5"/>
          <p:cNvSpPr/>
          <p:nvPr/>
        </p:nvSpPr>
        <p:spPr>
          <a:xfrm>
            <a:off x="877824" y="1673352"/>
            <a:ext cx="127101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4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GRADIENT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841248" y="2066544"/>
            <a:ext cx="134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E5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15.00</a:t>
            </a:r>
            <a:pPr algn="l" indent="0" marL="0">
              <a:buNone/>
            </a:pPr>
            <a:r>
              <a:rPr lang="en-US" sz="10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%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2423160" y="1572768"/>
            <a:ext cx="1728216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587752" y="1728216"/>
            <a:ext cx="100584" cy="100584"/>
          </a:xfrm>
          <a:prstGeom prst="ellipse">
            <a:avLst/>
          </a:prstGeom>
          <a:solidFill>
            <a:srgbClr val="D98A2B"/>
          </a:solidFill>
          <a:ln/>
        </p:spPr>
      </p:sp>
      <p:sp>
        <p:nvSpPr>
          <p:cNvPr id="12" name="Text 9"/>
          <p:cNvSpPr/>
          <p:nvPr/>
        </p:nvSpPr>
        <p:spPr>
          <a:xfrm>
            <a:off x="2752344" y="1673352"/>
            <a:ext cx="127101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4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GRADIENT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2715768" y="2066544"/>
            <a:ext cx="134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-15.00</a:t>
            </a:r>
            <a:pPr algn="l" indent="0" marL="0">
              <a:buNone/>
            </a:pPr>
            <a:r>
              <a:rPr lang="en-US" sz="10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%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4297680" y="1572768"/>
            <a:ext cx="1728216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462272" y="1728216"/>
            <a:ext cx="100584" cy="100584"/>
          </a:xfrm>
          <a:prstGeom prst="ellipse">
            <a:avLst/>
          </a:prstGeom>
          <a:solidFill>
            <a:srgbClr val="2E56D0"/>
          </a:solidFill>
          <a:ln/>
        </p:spPr>
      </p:sp>
      <p:sp>
        <p:nvSpPr>
          <p:cNvPr id="16" name="Text 13"/>
          <p:cNvSpPr/>
          <p:nvPr/>
        </p:nvSpPr>
        <p:spPr>
          <a:xfrm>
            <a:off x="4626864" y="1673352"/>
            <a:ext cx="127101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4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HEIGHT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590288" y="2066544"/>
            <a:ext cx="134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E5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5.99</a:t>
            </a:r>
            <a:pPr algn="l" indent="0" marL="0">
              <a:buNone/>
            </a:pPr>
            <a:r>
              <a:rPr lang="en-US" sz="10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</a:t>
            </a:r>
            <a:endParaRPr lang="en-US" sz="1900" dirty="0"/>
          </a:p>
        </p:txBody>
      </p:sp>
      <p:sp>
        <p:nvSpPr>
          <p:cNvPr id="18" name="Shape 15"/>
          <p:cNvSpPr/>
          <p:nvPr/>
        </p:nvSpPr>
        <p:spPr>
          <a:xfrm>
            <a:off x="6172200" y="1572768"/>
            <a:ext cx="1728216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336792" y="1728216"/>
            <a:ext cx="100584" cy="100584"/>
          </a:xfrm>
          <a:prstGeom prst="ellipse">
            <a:avLst/>
          </a:prstGeom>
          <a:solidFill>
            <a:srgbClr val="D98A2B"/>
          </a:solidFill>
          <a:ln/>
        </p:spPr>
      </p:sp>
      <p:sp>
        <p:nvSpPr>
          <p:cNvPr id="20" name="Text 17"/>
          <p:cNvSpPr/>
          <p:nvPr/>
        </p:nvSpPr>
        <p:spPr>
          <a:xfrm>
            <a:off x="6501384" y="1673352"/>
            <a:ext cx="127101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4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HEIGHT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6464808" y="2066544"/>
            <a:ext cx="134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pPr algn="l" indent="0" marL="0">
              <a:buNone/>
            </a:pPr>
            <a:r>
              <a:rPr lang="en-US" sz="10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</a:t>
            </a:r>
            <a:endParaRPr lang="en-US" sz="1900" dirty="0"/>
          </a:p>
        </p:txBody>
      </p:sp>
      <p:sp>
        <p:nvSpPr>
          <p:cNvPr id="22" name="Shape 19"/>
          <p:cNvSpPr/>
          <p:nvPr/>
        </p:nvSpPr>
        <p:spPr>
          <a:xfrm>
            <a:off x="8046720" y="1572768"/>
            <a:ext cx="1728216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8211312" y="1728216"/>
            <a:ext cx="100584" cy="100584"/>
          </a:xfrm>
          <a:prstGeom prst="ellipse">
            <a:avLst/>
          </a:prstGeom>
          <a:solidFill>
            <a:srgbClr val="2E56D0"/>
          </a:solidFill>
          <a:ln/>
        </p:spPr>
      </p:sp>
      <p:sp>
        <p:nvSpPr>
          <p:cNvPr id="24" name="Text 21"/>
          <p:cNvSpPr/>
          <p:nvPr/>
        </p:nvSpPr>
        <p:spPr>
          <a:xfrm>
            <a:off x="8375904" y="1673352"/>
            <a:ext cx="127101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4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RANGE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8339328" y="2066544"/>
            <a:ext cx="134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E5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5.99</a:t>
            </a:r>
            <a:pPr algn="l" indent="0" marL="0">
              <a:buNone/>
            </a:pPr>
            <a:r>
              <a:rPr lang="en-US" sz="10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</a:t>
            </a:r>
            <a:endParaRPr lang="en-US" sz="1900" dirty="0"/>
          </a:p>
        </p:txBody>
      </p:sp>
      <p:sp>
        <p:nvSpPr>
          <p:cNvPr id="26" name="Shape 23"/>
          <p:cNvSpPr/>
          <p:nvPr/>
        </p:nvSpPr>
        <p:spPr>
          <a:xfrm>
            <a:off x="9921240" y="1572768"/>
            <a:ext cx="1728216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10085832" y="1728216"/>
            <a:ext cx="100584" cy="100584"/>
          </a:xfrm>
          <a:prstGeom prst="ellipse">
            <a:avLst/>
          </a:prstGeom>
          <a:solidFill>
            <a:srgbClr val="5C6B82"/>
          </a:solidFill>
          <a:ln/>
        </p:spPr>
      </p:sp>
      <p:sp>
        <p:nvSpPr>
          <p:cNvPr id="28" name="Text 25"/>
          <p:cNvSpPr/>
          <p:nvPr/>
        </p:nvSpPr>
        <p:spPr>
          <a:xfrm>
            <a:off x="10250424" y="1673352"/>
            <a:ext cx="127101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4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10213848" y="2066544"/>
            <a:ext cx="134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pPr algn="l" indent="0" marL="0">
              <a:buNone/>
            </a:pPr>
            <a:r>
              <a:rPr lang="en-US" sz="10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km</a:t>
            </a:r>
            <a:endParaRPr lang="en-US" sz="1900" dirty="0"/>
          </a:p>
        </p:txBody>
      </p:sp>
      <p:sp>
        <p:nvSpPr>
          <p:cNvPr id="30" name="Shape 27"/>
          <p:cNvSpPr/>
          <p:nvPr/>
        </p:nvSpPr>
        <p:spPr>
          <a:xfrm>
            <a:off x="2794864" y="2880360"/>
            <a:ext cx="6601968" cy="3410712"/>
          </a:xfrm>
          <a:prstGeom prst="roundRect">
            <a:avLst>
              <a:gd name="adj" fmla="val 13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A1524">
                <a:alpha val="13000"/>
              </a:srgbClr>
            </a:outerShdw>
          </a:effectLst>
        </p:spPr>
      </p:sp>
      <p:pic>
        <p:nvPicPr>
          <p:cNvPr id="31" name="Image 1" descr="assets/chart_ro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4592" y="2990088"/>
            <a:ext cx="6382512" cy="3191256"/>
          </a:xfrm>
          <a:prstGeom prst="rect">
            <a:avLst/>
          </a:prstGeom>
        </p:spPr>
      </p:pic>
      <p:pic>
        <p:nvPicPr>
          <p:cNvPr id="32" name="Image 2" descr="assets/logo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146304"/>
            <a:ext cx="1325880" cy="429768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VSM ENGINEERING</a:t>
            </a:r>
            <a:pPr indent="0" marL="0">
              <a:buNone/>
            </a:pPr>
            <a:r>
              <a:rPr lang="en-US" sz="850" spc="12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POST-PROCESSING TOOL  v1.3.0</a:t>
            </a:r>
            <a:endParaRPr lang="en-US" sz="850" dirty="0"/>
          </a:p>
        </p:txBody>
      </p:sp>
      <p:sp>
        <p:nvSpPr>
          <p:cNvPr id="34" name="Text 29"/>
          <p:cNvSpPr/>
          <p:nvPr/>
        </p:nvSpPr>
        <p:spPr>
          <a:xfrm>
            <a:off x="10058400" y="6419088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/  12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85216" cy="585216"/>
          </a:xfrm>
          <a:prstGeom prst="ellipse">
            <a:avLst/>
          </a:prstGeom>
          <a:solidFill>
            <a:srgbClr val="2E56D0"/>
          </a:solidFill>
          <a:ln/>
          <a:effectLst>
            <a:outerShdw sx="100000" sy="100000" kx="0" ky="0" algn="bl" rotWithShape="0" blurRad="76200" dist="25400" dir="5400000">
              <a:srgbClr val="0A1524">
                <a:alpha val="25000"/>
              </a:srgbClr>
            </a:outerShdw>
          </a:effectLst>
        </p:spPr>
      </p:sp>
      <p:pic>
        <p:nvPicPr>
          <p:cNvPr id="3" name="Image 0" descr="assets/ic_ste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12648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0233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1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Wheel Steering Angles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344168" y="859536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and rear wheel steering behaviour over the drive cycle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728216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13232" y="1728216"/>
            <a:ext cx="100584" cy="100584"/>
          </a:xfrm>
          <a:prstGeom prst="ellipse">
            <a:avLst/>
          </a:prstGeom>
          <a:solidFill>
            <a:srgbClr val="2E56D0"/>
          </a:solidFill>
          <a:ln/>
        </p:spPr>
      </p:sp>
      <p:sp>
        <p:nvSpPr>
          <p:cNvPr id="8" name="Text 5"/>
          <p:cNvSpPr/>
          <p:nvPr/>
        </p:nvSpPr>
        <p:spPr>
          <a:xfrm>
            <a:off x="877824" y="1673352"/>
            <a:ext cx="127101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4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STEER FL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841248" y="2066544"/>
            <a:ext cx="134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E5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pPr algn="l" indent="0" marL="0">
              <a:buNone/>
            </a:pPr>
            <a:r>
              <a:rPr lang="en-US" sz="10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°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2423160" y="1572768"/>
            <a:ext cx="1728216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587752" y="1728216"/>
            <a:ext cx="100584" cy="100584"/>
          </a:xfrm>
          <a:prstGeom prst="ellipse">
            <a:avLst/>
          </a:prstGeom>
          <a:solidFill>
            <a:srgbClr val="D98A2B"/>
          </a:solidFill>
          <a:ln/>
        </p:spPr>
      </p:sp>
      <p:sp>
        <p:nvSpPr>
          <p:cNvPr id="12" name="Text 9"/>
          <p:cNvSpPr/>
          <p:nvPr/>
        </p:nvSpPr>
        <p:spPr>
          <a:xfrm>
            <a:off x="2752344" y="1673352"/>
            <a:ext cx="127101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4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STEER FR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2715768" y="2066544"/>
            <a:ext cx="134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pPr algn="l" indent="0" marL="0">
              <a:buNone/>
            </a:pPr>
            <a:r>
              <a:rPr lang="en-US" sz="10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°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4297680" y="1572768"/>
            <a:ext cx="1728216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462272" y="1728216"/>
            <a:ext cx="100584" cy="100584"/>
          </a:xfrm>
          <a:prstGeom prst="ellipse">
            <a:avLst/>
          </a:prstGeom>
          <a:solidFill>
            <a:srgbClr val="2E56D0"/>
          </a:solidFill>
          <a:ln/>
        </p:spPr>
      </p:sp>
      <p:sp>
        <p:nvSpPr>
          <p:cNvPr id="16" name="Text 13"/>
          <p:cNvSpPr/>
          <p:nvPr/>
        </p:nvSpPr>
        <p:spPr>
          <a:xfrm>
            <a:off x="4626864" y="1673352"/>
            <a:ext cx="127101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4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STEER RL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590288" y="2066544"/>
            <a:ext cx="134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E5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pPr algn="l" indent="0" marL="0">
              <a:buNone/>
            </a:pPr>
            <a:r>
              <a:rPr lang="en-US" sz="10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°</a:t>
            </a:r>
            <a:endParaRPr lang="en-US" sz="1900" dirty="0"/>
          </a:p>
        </p:txBody>
      </p:sp>
      <p:sp>
        <p:nvSpPr>
          <p:cNvPr id="18" name="Shape 15"/>
          <p:cNvSpPr/>
          <p:nvPr/>
        </p:nvSpPr>
        <p:spPr>
          <a:xfrm>
            <a:off x="6172200" y="1572768"/>
            <a:ext cx="1728216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336792" y="1728216"/>
            <a:ext cx="100584" cy="100584"/>
          </a:xfrm>
          <a:prstGeom prst="ellipse">
            <a:avLst/>
          </a:prstGeom>
          <a:solidFill>
            <a:srgbClr val="D98A2B"/>
          </a:solidFill>
          <a:ln/>
        </p:spPr>
      </p:sp>
      <p:sp>
        <p:nvSpPr>
          <p:cNvPr id="20" name="Text 17"/>
          <p:cNvSpPr/>
          <p:nvPr/>
        </p:nvSpPr>
        <p:spPr>
          <a:xfrm>
            <a:off x="6501384" y="1673352"/>
            <a:ext cx="127101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4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STEER RR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6464808" y="2066544"/>
            <a:ext cx="134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D9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pPr algn="l" indent="0" marL="0">
              <a:buNone/>
            </a:pPr>
            <a:r>
              <a:rPr lang="en-US" sz="10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°</a:t>
            </a:r>
            <a:endParaRPr lang="en-US" sz="1900" dirty="0"/>
          </a:p>
        </p:txBody>
      </p:sp>
      <p:sp>
        <p:nvSpPr>
          <p:cNvPr id="22" name="Shape 19"/>
          <p:cNvSpPr/>
          <p:nvPr/>
        </p:nvSpPr>
        <p:spPr>
          <a:xfrm>
            <a:off x="8046720" y="1572768"/>
            <a:ext cx="1728216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8211312" y="1728216"/>
            <a:ext cx="100584" cy="100584"/>
          </a:xfrm>
          <a:prstGeom prst="ellipse">
            <a:avLst/>
          </a:prstGeom>
          <a:solidFill>
            <a:srgbClr val="2E56D0"/>
          </a:solidFill>
          <a:ln/>
        </p:spPr>
      </p:sp>
      <p:sp>
        <p:nvSpPr>
          <p:cNvPr id="24" name="Text 21"/>
          <p:cNvSpPr/>
          <p:nvPr/>
        </p:nvSpPr>
        <p:spPr>
          <a:xfrm>
            <a:off x="8375904" y="1673352"/>
            <a:ext cx="127101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4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ABS STEER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8339328" y="2066544"/>
            <a:ext cx="134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E5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pPr algn="l" indent="0" marL="0">
              <a:buNone/>
            </a:pPr>
            <a:r>
              <a:rPr lang="en-US" sz="10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°</a:t>
            </a:r>
            <a:endParaRPr lang="en-US" sz="1900" dirty="0"/>
          </a:p>
        </p:txBody>
      </p:sp>
      <p:sp>
        <p:nvSpPr>
          <p:cNvPr id="26" name="Shape 23"/>
          <p:cNvSpPr/>
          <p:nvPr/>
        </p:nvSpPr>
        <p:spPr>
          <a:xfrm>
            <a:off x="9921240" y="1572768"/>
            <a:ext cx="1728216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A1524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10085832" y="1728216"/>
            <a:ext cx="100584" cy="100584"/>
          </a:xfrm>
          <a:prstGeom prst="ellipse">
            <a:avLst/>
          </a:prstGeom>
          <a:solidFill>
            <a:srgbClr val="5C6B82"/>
          </a:solidFill>
          <a:ln/>
        </p:spPr>
      </p:sp>
      <p:sp>
        <p:nvSpPr>
          <p:cNvPr id="28" name="Text 25"/>
          <p:cNvSpPr/>
          <p:nvPr/>
        </p:nvSpPr>
        <p:spPr>
          <a:xfrm>
            <a:off x="10250424" y="1673352"/>
            <a:ext cx="127101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spc="4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10213848" y="2066544"/>
            <a:ext cx="134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pPr algn="l" indent="0" marL="0">
              <a:buNone/>
            </a:pPr>
            <a:r>
              <a:rPr lang="en-US" sz="10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km</a:t>
            </a:r>
            <a:endParaRPr lang="en-US" sz="1900" dirty="0"/>
          </a:p>
        </p:txBody>
      </p:sp>
      <p:sp>
        <p:nvSpPr>
          <p:cNvPr id="30" name="Shape 27"/>
          <p:cNvSpPr/>
          <p:nvPr/>
        </p:nvSpPr>
        <p:spPr>
          <a:xfrm>
            <a:off x="3050896" y="2880360"/>
            <a:ext cx="6089904" cy="3154680"/>
          </a:xfrm>
          <a:prstGeom prst="roundRect">
            <a:avLst>
              <a:gd name="adj" fmla="val 14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A1524">
                <a:alpha val="13000"/>
              </a:srgbClr>
            </a:outerShdw>
          </a:effectLst>
        </p:spPr>
      </p:sp>
      <p:pic>
        <p:nvPicPr>
          <p:cNvPr id="31" name="Image 1" descr="assets/chart_ste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0624" y="2990088"/>
            <a:ext cx="5870448" cy="2935224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548640" y="6089904"/>
            <a:ext cx="11091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steering-angle channels remain at 0.00° for this drive cycle.</a:t>
            </a:r>
            <a:endParaRPr lang="en-US" sz="1050" dirty="0"/>
          </a:p>
        </p:txBody>
      </p:sp>
      <p:pic>
        <p:nvPicPr>
          <p:cNvPr id="33" name="Image 2" descr="assets/logo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146304"/>
            <a:ext cx="1325880" cy="429768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VSM ENGINEERING</a:t>
            </a:r>
            <a:pPr indent="0" marL="0">
              <a:buNone/>
            </a:pPr>
            <a:r>
              <a:rPr lang="en-US" sz="850" spc="12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POST-PROCESSING TOOL  v1.3.0</a:t>
            </a:r>
            <a:endParaRPr lang="en-US" sz="850" dirty="0"/>
          </a:p>
        </p:txBody>
      </p:sp>
      <p:sp>
        <p:nvSpPr>
          <p:cNvPr id="35" name="Text 30"/>
          <p:cNvSpPr/>
          <p:nvPr/>
        </p:nvSpPr>
        <p:spPr>
          <a:xfrm>
            <a:off x="10058400" y="6419088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/  12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RoboSprayer Electric</dc:title>
  <dc:subject>RoboSprayer Electric deterministic profile engineering report</dc:subject>
  <dc:creator>VSM Engineering</dc:creator>
  <cp:lastModifiedBy>PptxGenJS</cp:lastModifiedBy>
  <cp:revision>1</cp:revision>
  <dcterms:created xsi:type="dcterms:W3CDTF">2026-08-16T11:37:24Z</dcterms:created>
  <dcterms:modified xsi:type="dcterms:W3CDTF">2026-08-16T11:37:25Z</dcterms:modified>
  <cp:keywords>VSM, profile-driven, engineering report</cp:keywords>
  <dc:description>Generated from deterministic profile outputs by v1.3.0.</dc:description>
</cp:coreProperties>
</file>